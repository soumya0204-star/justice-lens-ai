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20"/>
  </p:notesMasterIdLst>
  <p:sldIdLst>
    <p:sldId id="256" r:id="rId2"/>
    <p:sldId id="257" r:id="rId3"/>
    <p:sldId id="258" r:id="rId4"/>
    <p:sldId id="259" r:id="rId5"/>
    <p:sldId id="260" r:id="rId6"/>
    <p:sldId id="261" r:id="rId7"/>
    <p:sldId id="262" r:id="rId8"/>
    <p:sldId id="263" r:id="rId9"/>
    <p:sldId id="264" r:id="rId10"/>
    <p:sldId id="273" r:id="rId11"/>
    <p:sldId id="265" r:id="rId12"/>
    <p:sldId id="266" r:id="rId13"/>
    <p:sldId id="267" r:id="rId14"/>
    <p:sldId id="268" r:id="rId15"/>
    <p:sldId id="269" r:id="rId16"/>
    <p:sldId id="270" r:id="rId17"/>
    <p:sldId id="272" r:id="rId18"/>
    <p:sldId id="271" r:id="rId19"/>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22" roundtripDataSignature="AMtx7mgb3W1nguJpyLvdkVeio7GQyZY/L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F063BE5B-8E01-4B91-9C5C-8479B17E1E5F}">
  <a:tblStyle styleId="{F063BE5B-8E01-4B91-9C5C-8479B17E1E5F}" styleName="Table_0">
    <a:wholeTbl>
      <a:tcTxStyle b="off" i="off">
        <a:font>
          <a:latin typeface="Arial"/>
          <a:ea typeface="Arial"/>
          <a:cs typeface="Arial"/>
        </a:font>
        <a:srgbClr val="000000"/>
      </a:tcTxStyle>
      <a:tcStyle>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90" d="100"/>
          <a:sy n="90" d="100"/>
        </p:scale>
        <p:origin x="370"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customschemas.google.com/relationships/presentationmetadata" Target="meta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
        <p:cNvGrpSpPr/>
        <p:nvPr/>
      </p:nvGrpSpPr>
      <p:grpSpPr>
        <a:xfrm>
          <a:off x="0" y="0"/>
          <a:ext cx="0" cy="0"/>
          <a:chOff x="0" y="0"/>
          <a:chExt cx="0" cy="0"/>
        </a:xfrm>
      </p:grpSpPr>
      <p:sp>
        <p:nvSpPr>
          <p:cNvPr id="75" name="Google Shape;75;p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6" name="Google Shape;76;p33: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82" name="Google Shape;82;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Google Shape;92;p3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93" name="Google Shape;93;p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p3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99" name="Google Shape;99;p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p:cNvGrpSpPr/>
        <p:nvPr/>
      </p:nvGrpSpPr>
      <p:grpSpPr>
        <a:xfrm>
          <a:off x="0" y="0"/>
          <a:ext cx="0" cy="0"/>
          <a:chOff x="0" y="0"/>
          <a:chExt cx="0" cy="0"/>
        </a:xfrm>
      </p:grpSpPr>
      <p:sp>
        <p:nvSpPr>
          <p:cNvPr id="104" name="Google Shape;104;p3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5" name="Google Shape;105;p3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p3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11" name="Google Shape;111;p3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
        <p:cNvGrpSpPr/>
        <p:nvPr/>
      </p:nvGrpSpPr>
      <p:grpSpPr>
        <a:xfrm>
          <a:off x="0" y="0"/>
          <a:ext cx="0" cy="0"/>
          <a:chOff x="0" y="0"/>
          <a:chExt cx="0" cy="0"/>
        </a:xfrm>
      </p:grpSpPr>
      <p:sp>
        <p:nvSpPr>
          <p:cNvPr id="122" name="Google Shape;122;p3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23" name="Google Shape;123;p3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p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29" name="Google Shape;129;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3"/>
        <p:cNvGrpSpPr/>
        <p:nvPr/>
      </p:nvGrpSpPr>
      <p:grpSpPr>
        <a:xfrm>
          <a:off x="0" y="0"/>
          <a:ext cx="0" cy="0"/>
          <a:chOff x="0" y="0"/>
          <a:chExt cx="0" cy="0"/>
        </a:xfrm>
      </p:grpSpPr>
      <p:sp>
        <p:nvSpPr>
          <p:cNvPr id="134" name="Google Shape;134;p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35" name="Google Shape;135;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3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42" name="Google Shape;142;p3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
        <p:cNvGrpSpPr/>
        <p:nvPr/>
      </p:nvGrpSpPr>
      <p:grpSpPr>
        <a:xfrm>
          <a:off x="0" y="0"/>
          <a:ext cx="0" cy="0"/>
          <a:chOff x="0" y="0"/>
          <a:chExt cx="0" cy="0"/>
        </a:xfrm>
      </p:grpSpPr>
      <p:sp>
        <p:nvSpPr>
          <p:cNvPr id="154" name="Google Shape;154;p4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55" name="Google Shape;155;p4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p:cNvGrpSpPr/>
        <p:nvPr/>
      </p:nvGrpSpPr>
      <p:grpSpPr>
        <a:xfrm>
          <a:off x="0" y="0"/>
          <a:ext cx="0" cy="0"/>
          <a:chOff x="0" y="0"/>
          <a:chExt cx="0" cy="0"/>
        </a:xfrm>
      </p:grpSpPr>
      <p:sp>
        <p:nvSpPr>
          <p:cNvPr id="160" name="Google Shape;160;p4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61" name="Google Shape;161;p4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8"/>
        <p:cNvGrpSpPr/>
        <p:nvPr/>
      </p:nvGrpSpPr>
      <p:grpSpPr>
        <a:xfrm>
          <a:off x="0" y="0"/>
          <a:ext cx="0" cy="0"/>
          <a:chOff x="0" y="0"/>
          <a:chExt cx="0" cy="0"/>
        </a:xfrm>
      </p:grpSpPr>
      <p:sp>
        <p:nvSpPr>
          <p:cNvPr id="169" name="Google Shape;169;p4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70" name="Google Shape;170;p4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7"/>
        <p:cNvGrpSpPr/>
        <p:nvPr/>
      </p:nvGrpSpPr>
      <p:grpSpPr>
        <a:xfrm>
          <a:off x="0" y="0"/>
          <a:ext cx="0" cy="0"/>
          <a:chOff x="0" y="0"/>
          <a:chExt cx="0" cy="0"/>
        </a:xfrm>
      </p:grpSpPr>
      <p:sp>
        <p:nvSpPr>
          <p:cNvPr id="178" name="Google Shape;178;p4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9" name="Google Shape;179;p4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
        <p:cNvGrpSpPr/>
        <p:nvPr/>
      </p:nvGrpSpPr>
      <p:grpSpPr>
        <a:xfrm>
          <a:off x="0" y="0"/>
          <a:ext cx="0" cy="0"/>
          <a:chOff x="0" y="0"/>
          <a:chExt cx="0" cy="0"/>
        </a:xfrm>
      </p:grpSpPr>
      <p:sp>
        <p:nvSpPr>
          <p:cNvPr id="185" name="Google Shape;185;p4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6" name="Google Shape;186;p4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p:cNvGrpSpPr/>
        <p:nvPr/>
      </p:nvGrpSpPr>
      <p:grpSpPr>
        <a:xfrm>
          <a:off x="0" y="0"/>
          <a:ext cx="0" cy="0"/>
          <a:chOff x="0" y="0"/>
          <a:chExt cx="0" cy="0"/>
        </a:xfrm>
      </p:grpSpPr>
      <p:sp>
        <p:nvSpPr>
          <p:cNvPr id="192" name="Google Shape;192;p2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93" name="Google Shape;193;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1"/>
        <p:cNvGrpSpPr/>
        <p:nvPr/>
      </p:nvGrpSpPr>
      <p:grpSpPr>
        <a:xfrm>
          <a:off x="0" y="0"/>
          <a:ext cx="0" cy="0"/>
          <a:chOff x="0" y="0"/>
          <a:chExt cx="0" cy="0"/>
        </a:xfrm>
      </p:grpSpPr>
      <p:sp>
        <p:nvSpPr>
          <p:cNvPr id="12" name="Google Shape;12;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 name="Google Shape;13;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14" name="Google Shape;14;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5" name="Google Shape;15;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6" name="Google Shape;16;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1" name="Google Shape;2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2" name="Google Shape;2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3"/>
        <p:cNvGrpSpPr/>
        <p:nvPr/>
      </p:nvGrpSpPr>
      <p:grpSpPr>
        <a:xfrm>
          <a:off x="0" y="0"/>
          <a:ext cx="0" cy="0"/>
          <a:chOff x="0" y="0"/>
          <a:chExt cx="0" cy="0"/>
        </a:xfrm>
      </p:grpSpPr>
      <p:sp>
        <p:nvSpPr>
          <p:cNvPr id="24" name="Google Shape;24;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 name="Google Shape;25;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6" name="Google Shape;26;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7" name="Google Shape;27;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8" name="Google Shape;28;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9" name="Google Shape;29;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0"/>
        <p:cNvGrpSpPr/>
        <p:nvPr/>
      </p:nvGrpSpPr>
      <p:grpSpPr>
        <a:xfrm>
          <a:off x="0" y="0"/>
          <a:ext cx="0" cy="0"/>
          <a:chOff x="0" y="0"/>
          <a:chExt cx="0" cy="0"/>
        </a:xfrm>
      </p:grpSpPr>
      <p:sp>
        <p:nvSpPr>
          <p:cNvPr id="31" name="Google Shape;31;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2" name="Google Shape;32;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3" name="Google Shape;33;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4" name="Google Shape;34;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5" name="Google Shape;35;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6" name="Google Shape;36;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 name="Google Shape;37;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9"/>
        <p:cNvGrpSpPr/>
        <p:nvPr/>
      </p:nvGrpSpPr>
      <p:grpSpPr>
        <a:xfrm>
          <a:off x="0" y="0"/>
          <a:ext cx="0" cy="0"/>
          <a:chOff x="0" y="0"/>
          <a:chExt cx="0" cy="0"/>
        </a:xfrm>
      </p:grpSpPr>
      <p:sp>
        <p:nvSpPr>
          <p:cNvPr id="40" name="Google Shape;40;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1" name="Google Shape;41;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 name="Google Shape;42;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3" name="Google Shape;43;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4"/>
        <p:cNvGrpSpPr/>
        <p:nvPr/>
      </p:nvGrpSpPr>
      <p:grpSpPr>
        <a:xfrm>
          <a:off x="0" y="0"/>
          <a:ext cx="0" cy="0"/>
          <a:chOff x="0" y="0"/>
          <a:chExt cx="0" cy="0"/>
        </a:xfrm>
      </p:grpSpPr>
      <p:sp>
        <p:nvSpPr>
          <p:cNvPr id="45" name="Google Shape;45;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6" name="Google Shape;46;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7" name="Google Shape;47;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48"/>
        <p:cNvGrpSpPr/>
        <p:nvPr/>
      </p:nvGrpSpPr>
      <p:grpSpPr>
        <a:xfrm>
          <a:off x="0" y="0"/>
          <a:ext cx="0" cy="0"/>
          <a:chOff x="0" y="0"/>
          <a:chExt cx="0" cy="0"/>
        </a:xfrm>
      </p:grpSpPr>
      <p:sp>
        <p:nvSpPr>
          <p:cNvPr id="49" name="Google Shape;49;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0" name="Google Shape;50;p2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1" name="Google Shape;51;p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2" name="Google Shape;52;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4" name="Google Shape;54;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55"/>
        <p:cNvGrpSpPr/>
        <p:nvPr/>
      </p:nvGrpSpPr>
      <p:grpSpPr>
        <a:xfrm>
          <a:off x="0" y="0"/>
          <a:ext cx="0" cy="0"/>
          <a:chOff x="0" y="0"/>
          <a:chExt cx="0" cy="0"/>
        </a:xfrm>
      </p:grpSpPr>
      <p:sp>
        <p:nvSpPr>
          <p:cNvPr id="56" name="Google Shape;56;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7" name="Google Shape;57;p30"/>
          <p:cNvSpPr>
            <a:spLocks noGrp="1"/>
          </p:cNvSpPr>
          <p:nvPr>
            <p:ph type="pic" idx="2"/>
          </p:nvPr>
        </p:nvSpPr>
        <p:spPr>
          <a:xfrm>
            <a:off x="5183188" y="987425"/>
            <a:ext cx="6172200" cy="4873625"/>
          </a:xfrm>
          <a:prstGeom prst="rect">
            <a:avLst/>
          </a:prstGeom>
          <a:noFill/>
          <a:ln>
            <a:noFill/>
          </a:ln>
        </p:spPr>
      </p:sp>
      <p:sp>
        <p:nvSpPr>
          <p:cNvPr id="58" name="Google Shape;58;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9" name="Google Shape;59;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0" name="Google Shape;60;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1" name="Google Shape;61;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2"/>
        <p:cNvGrpSpPr/>
        <p:nvPr/>
      </p:nvGrpSpPr>
      <p:grpSpPr>
        <a:xfrm>
          <a:off x="0" y="0"/>
          <a:ext cx="0" cy="0"/>
          <a:chOff x="0" y="0"/>
          <a:chExt cx="0" cy="0"/>
        </a:xfrm>
      </p:grpSpPr>
      <p:sp>
        <p:nvSpPr>
          <p:cNvPr id="63" name="Google Shape;63;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4" name="Google Shape;64;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5" name="Google Shape;65;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6" name="Google Shape;66;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68"/>
        <p:cNvGrpSpPr/>
        <p:nvPr/>
      </p:nvGrpSpPr>
      <p:grpSpPr>
        <a:xfrm>
          <a:off x="0" y="0"/>
          <a:ext cx="0" cy="0"/>
          <a:chOff x="0" y="0"/>
          <a:chExt cx="0" cy="0"/>
        </a:xfrm>
      </p:grpSpPr>
      <p:sp>
        <p:nvSpPr>
          <p:cNvPr id="69" name="Google Shape;69;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2" name="Google Shape;72;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3" name="Google Shape;73;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7" name="Google Shape;7;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77"/>
        <p:cNvGrpSpPr/>
        <p:nvPr/>
      </p:nvGrpSpPr>
      <p:grpSpPr>
        <a:xfrm>
          <a:off x="0" y="0"/>
          <a:ext cx="0" cy="0"/>
          <a:chOff x="0" y="0"/>
          <a:chExt cx="0" cy="0"/>
        </a:xfrm>
      </p:grpSpPr>
      <p:sp>
        <p:nvSpPr>
          <p:cNvPr id="78" name="Google Shape;78;p33"/>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p>
            <a:pPr marL="0" lvl="0" indent="0" algn="ctr" rtl="0">
              <a:lnSpc>
                <a:spcPct val="90000"/>
              </a:lnSpc>
              <a:spcBef>
                <a:spcPts val="0"/>
              </a:spcBef>
              <a:spcAft>
                <a:spcPts val="0"/>
              </a:spcAft>
              <a:buSzPts val="6000"/>
              <a:buNone/>
            </a:pPr>
            <a:r>
              <a:rPr lang="en-US" sz="6600" b="1"/>
              <a:t>IBM University Engagement Project Submission</a:t>
            </a:r>
            <a:br>
              <a:rPr lang="en-US" b="1"/>
            </a:br>
            <a:endParaRPr/>
          </a:p>
        </p:txBody>
      </p:sp>
      <p:sp>
        <p:nvSpPr>
          <p:cNvPr id="79" name="Google Shape;79;p33"/>
          <p:cNvSpPr txBox="1">
            <a:spLocks noGrp="1"/>
          </p:cNvSpPr>
          <p:nvPr>
            <p:ph type="body" idx="1"/>
          </p:nvPr>
        </p:nvSpPr>
        <p:spPr>
          <a:xfrm>
            <a:off x="1014730" y="3903663"/>
            <a:ext cx="10515600" cy="1500187"/>
          </a:xfrm>
          <a:prstGeom prst="rect">
            <a:avLst/>
          </a:prstGeom>
          <a:noFill/>
          <a:ln>
            <a:noFill/>
          </a:ln>
        </p:spPr>
        <p:txBody>
          <a:bodyPr spcFirstLastPara="1" wrap="square" lIns="91425" tIns="45700" rIns="91425" bIns="45700" anchor="t" anchorCtr="0">
            <a:normAutofit/>
          </a:bodyPr>
          <a:lstStyle/>
          <a:p>
            <a:pPr marL="457200" lvl="0" indent="-228600" algn="ctr" rtl="0">
              <a:lnSpc>
                <a:spcPct val="90000"/>
              </a:lnSpc>
              <a:spcBef>
                <a:spcPts val="1000"/>
              </a:spcBef>
              <a:spcAft>
                <a:spcPts val="0"/>
              </a:spcAft>
              <a:buSzPts val="2400"/>
              <a:buNone/>
            </a:pPr>
            <a:r>
              <a:rPr lang="en-US" b="1" i="1"/>
              <a:t>“Exploring the Power of Agentic AI with IBM Granite and LangFlow”</a:t>
            </a: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4" name="Google Shape;84;p2"/>
          <p:cNvSpPr/>
          <p:nvPr/>
        </p:nvSpPr>
        <p:spPr>
          <a:xfrm>
            <a:off x="690624" y="4425370"/>
            <a:ext cx="10795794" cy="19923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chemeClr val="dk1"/>
              </a:buClr>
              <a:buSzPts val="1500"/>
              <a:buFont typeface="Calibri"/>
              <a:buNone/>
            </a:pPr>
            <a:endParaRPr sz="1500" b="0" i="0" u="none" strike="noStrike" cap="none">
              <a:solidFill>
                <a:schemeClr val="dk1"/>
              </a:solidFill>
              <a:latin typeface="Times New Roman"/>
              <a:ea typeface="Times New Roman"/>
              <a:cs typeface="Times New Roman"/>
              <a:sym typeface="Times New Roman"/>
            </a:endParaRPr>
          </a:p>
        </p:txBody>
      </p:sp>
      <p:sp>
        <p:nvSpPr>
          <p:cNvPr id="85" name="Google Shape;85;p2"/>
          <p:cNvSpPr txBox="1"/>
          <p:nvPr/>
        </p:nvSpPr>
        <p:spPr>
          <a:xfrm>
            <a:off x="1102321" y="1174639"/>
            <a:ext cx="7426406" cy="451519"/>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200"/>
              <a:buFont typeface="Times New Roman"/>
              <a:buNone/>
            </a:pPr>
            <a:endParaRPr sz="3200" b="1" i="0" u="none" strike="noStrike" cap="none">
              <a:solidFill>
                <a:srgbClr val="002060"/>
              </a:solidFill>
              <a:latin typeface="Times New Roman"/>
              <a:ea typeface="Times New Roman"/>
              <a:cs typeface="Times New Roman"/>
              <a:sym typeface="Times New Roman"/>
            </a:endParaRPr>
          </a:p>
        </p:txBody>
      </p:sp>
      <p:graphicFrame>
        <p:nvGraphicFramePr>
          <p:cNvPr id="86" name="Google Shape;86;p2"/>
          <p:cNvGraphicFramePr/>
          <p:nvPr>
            <p:extLst>
              <p:ext uri="{D42A27DB-BD31-4B8C-83A1-F6EECF244321}">
                <p14:modId xmlns:p14="http://schemas.microsoft.com/office/powerpoint/2010/main" val="964953554"/>
              </p:ext>
            </p:extLst>
          </p:nvPr>
        </p:nvGraphicFramePr>
        <p:xfrm>
          <a:off x="1299257" y="2600315"/>
          <a:ext cx="9395000" cy="2167125"/>
        </p:xfrm>
        <a:graphic>
          <a:graphicData uri="http://schemas.openxmlformats.org/drawingml/2006/table">
            <a:tbl>
              <a:tblPr>
                <a:noFill/>
                <a:tableStyleId>{F063BE5B-8E01-4B91-9C5C-8479B17E1E5F}</a:tableStyleId>
              </a:tblPr>
              <a:tblGrid>
                <a:gridCol w="2064875">
                  <a:extLst>
                    <a:ext uri="{9D8B030D-6E8A-4147-A177-3AD203B41FA5}">
                      <a16:colId xmlns:a16="http://schemas.microsoft.com/office/drawing/2014/main" val="20000"/>
                    </a:ext>
                  </a:extLst>
                </a:gridCol>
                <a:gridCol w="2443375">
                  <a:extLst>
                    <a:ext uri="{9D8B030D-6E8A-4147-A177-3AD203B41FA5}">
                      <a16:colId xmlns:a16="http://schemas.microsoft.com/office/drawing/2014/main" val="20001"/>
                    </a:ext>
                  </a:extLst>
                </a:gridCol>
                <a:gridCol w="2443375">
                  <a:extLst>
                    <a:ext uri="{9D8B030D-6E8A-4147-A177-3AD203B41FA5}">
                      <a16:colId xmlns:a16="http://schemas.microsoft.com/office/drawing/2014/main" val="20002"/>
                    </a:ext>
                  </a:extLst>
                </a:gridCol>
                <a:gridCol w="2443375">
                  <a:extLst>
                    <a:ext uri="{9D8B030D-6E8A-4147-A177-3AD203B41FA5}">
                      <a16:colId xmlns:a16="http://schemas.microsoft.com/office/drawing/2014/main" val="20003"/>
                    </a:ext>
                  </a:extLst>
                </a:gridCol>
              </a:tblGrid>
              <a:tr h="973225">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t>Student Name</a:t>
                      </a:r>
                      <a:endParaRPr sz="1800" u="none" strike="noStrike" cap="none"/>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t>Recent Passport Photo</a:t>
                      </a:r>
                      <a:endParaRPr sz="1800" u="none" strike="noStrike" cap="none"/>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Arial"/>
                          <a:cs typeface="Arial"/>
                          <a:sym typeface="Arial"/>
                        </a:rPr>
                        <a:t>Email ID </a:t>
                      </a:r>
                      <a:endParaRPr sz="1800" b="0" i="0" u="none" strike="noStrike" cap="none">
                        <a:solidFill>
                          <a:srgbClr val="000000"/>
                        </a:solidFill>
                        <a:latin typeface="Arial"/>
                        <a:ea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Arial"/>
                          <a:cs typeface="Arial"/>
                          <a:sym typeface="Arial"/>
                        </a:rPr>
                        <a:t>Mobile number</a:t>
                      </a:r>
                      <a:endParaRPr sz="18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Arial"/>
                          <a:cs typeface="Arial"/>
                          <a:sym typeface="Arial"/>
                        </a:rPr>
                        <a:t>[WhatsApp] </a:t>
                      </a:r>
                      <a:endParaRPr sz="1800" b="0" i="0" u="none" strike="noStrike" cap="none">
                        <a:solidFill>
                          <a:srgbClr val="000000"/>
                        </a:solidFill>
                        <a:latin typeface="Arial"/>
                        <a:ea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extLst>
                  <a:ext uri="{0D108BD9-81ED-4DB2-BD59-A6C34878D82A}">
                    <a16:rowId xmlns:a16="http://schemas.microsoft.com/office/drawing/2014/main" val="10000"/>
                  </a:ext>
                </a:extLst>
              </a:tr>
              <a:tr h="1193900">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dirty="0"/>
                        <a:t>Soumya D</a:t>
                      </a:r>
                      <a:endParaRPr sz="1400" u="none" strike="noStrike" cap="none"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lnSpc>
                          <a:spcPct val="100000"/>
                        </a:lnSpc>
                        <a:spcBef>
                          <a:spcPts val="0"/>
                        </a:spcBef>
                        <a:spcAft>
                          <a:spcPts val="0"/>
                        </a:spcAft>
                        <a:buClr>
                          <a:srgbClr val="000000"/>
                        </a:buClr>
                        <a:buSzPts val="1800"/>
                        <a:buFont typeface="Arial"/>
                        <a:buNone/>
                      </a:pPr>
                      <a:endParaRPr sz="1800" u="none" strike="noStrike" cap="none"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dirty="0"/>
                        <a:t>soumya.techintern@gmail.com</a:t>
                      </a:r>
                      <a:endParaRPr sz="1400" u="none" strike="noStrike" cap="none"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dirty="0"/>
                        <a:t>7010787803</a:t>
                      </a:r>
                      <a:endParaRPr sz="1400" u="none" strike="noStrike" cap="none"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extLst>
                  <a:ext uri="{0D108BD9-81ED-4DB2-BD59-A6C34878D82A}">
                    <a16:rowId xmlns:a16="http://schemas.microsoft.com/office/drawing/2014/main" val="10001"/>
                  </a:ext>
                </a:extLst>
              </a:tr>
            </a:tbl>
          </a:graphicData>
        </a:graphic>
      </p:graphicFrame>
      <p:sp>
        <p:nvSpPr>
          <p:cNvPr id="88" name="Google Shape;88;p2"/>
          <p:cNvSpPr txBox="1"/>
          <p:nvPr/>
        </p:nvSpPr>
        <p:spPr>
          <a:xfrm>
            <a:off x="1206164" y="1460724"/>
            <a:ext cx="10280254" cy="461624"/>
          </a:xfrm>
          <a:prstGeom prst="rect">
            <a:avLst/>
          </a:prstGeom>
          <a:noFill/>
          <a:ln>
            <a:noFill/>
          </a:ln>
        </p:spPr>
        <p:txBody>
          <a:bodyPr spcFirstLastPara="1" wrap="square" lIns="91425" tIns="45700" rIns="91425" bIns="45700" anchor="t" anchorCtr="0">
            <a:spAutoFit/>
          </a:bodyPr>
          <a:lstStyle/>
          <a:p>
            <a:r>
              <a:rPr lang="en-US" sz="2400" b="1" i="0" u="none" strike="noStrike" cap="none" dirty="0">
                <a:solidFill>
                  <a:srgbClr val="000000"/>
                </a:solidFill>
                <a:latin typeface="Arial"/>
                <a:ea typeface="Arial"/>
                <a:cs typeface="Arial"/>
                <a:sym typeface="Arial"/>
              </a:rPr>
              <a:t>Domain of  Project </a:t>
            </a:r>
            <a:r>
              <a:rPr lang="en-US" sz="2000" b="1" i="0" u="none" strike="noStrike" cap="none" dirty="0">
                <a:solidFill>
                  <a:srgbClr val="000000"/>
                </a:solidFill>
                <a:latin typeface="+mn-lt"/>
                <a:ea typeface="Arial"/>
                <a:cs typeface="Arial"/>
                <a:sym typeface="Arial"/>
              </a:rPr>
              <a:t>– </a:t>
            </a:r>
            <a:r>
              <a:rPr lang="en-US" sz="2000" b="1" dirty="0">
                <a:latin typeface="+mn-lt"/>
              </a:rPr>
              <a:t>Government / Public Policy / Legal Access</a:t>
            </a:r>
            <a:endParaRPr lang="en-IN" sz="2000" b="1" dirty="0">
              <a:latin typeface="+mn-lt"/>
              <a:cs typeface="Times New Roman" panose="02020603050405020304" pitchFamily="18" charset="0"/>
            </a:endParaRPr>
          </a:p>
        </p:txBody>
      </p:sp>
      <p:sp>
        <p:nvSpPr>
          <p:cNvPr id="89" name="Google Shape;89;p2"/>
          <p:cNvSpPr txBox="1"/>
          <p:nvPr/>
        </p:nvSpPr>
        <p:spPr>
          <a:xfrm>
            <a:off x="1206162" y="551965"/>
            <a:ext cx="9581177" cy="892512"/>
          </a:xfrm>
          <a:prstGeom prst="rect">
            <a:avLst/>
          </a:prstGeom>
          <a:noFill/>
          <a:ln>
            <a:noFill/>
          </a:ln>
        </p:spPr>
        <p:txBody>
          <a:bodyPr spcFirstLastPara="1" wrap="square" lIns="91425" tIns="45700" rIns="91425" bIns="45700" anchor="t" anchorCtr="0">
            <a:spAutoFit/>
          </a:bodyPr>
          <a:lstStyle/>
          <a:p>
            <a:r>
              <a:rPr lang="en-US" sz="2400" b="1" i="0" u="none" strike="noStrike" cap="none" dirty="0">
                <a:solidFill>
                  <a:srgbClr val="000000"/>
                </a:solidFill>
                <a:latin typeface="Arial"/>
                <a:ea typeface="Arial"/>
                <a:cs typeface="Arial"/>
                <a:sym typeface="Arial"/>
              </a:rPr>
              <a:t>Project Tile – </a:t>
            </a:r>
            <a:r>
              <a:rPr lang="en-IN" sz="2800" b="1" dirty="0" err="1">
                <a:latin typeface="+mj-lt"/>
                <a:cs typeface="Times New Roman" panose="02020603050405020304" pitchFamily="18" charset="0"/>
              </a:rPr>
              <a:t>JusticeLens</a:t>
            </a:r>
            <a:r>
              <a:rPr lang="en-IN" sz="2800" b="1" dirty="0">
                <a:latin typeface="+mj-lt"/>
                <a:cs typeface="Times New Roman" panose="02020603050405020304" pitchFamily="18" charset="0"/>
              </a:rPr>
              <a:t> AI</a:t>
            </a:r>
          </a:p>
          <a:p>
            <a:pPr marL="0" marR="0" lvl="0" indent="0" algn="l" rtl="0">
              <a:lnSpc>
                <a:spcPct val="100000"/>
              </a:lnSpc>
              <a:spcBef>
                <a:spcPts val="0"/>
              </a:spcBef>
              <a:spcAft>
                <a:spcPts val="0"/>
              </a:spcAft>
              <a:buNone/>
            </a:pPr>
            <a:endParaRPr sz="2400" b="1" i="0" u="none" strike="noStrike" cap="none" dirty="0">
              <a:solidFill>
                <a:srgbClr val="000000"/>
              </a:solidFill>
              <a:highlight>
                <a:srgbClr val="FFFF00"/>
              </a:highlight>
              <a:latin typeface="Arial"/>
              <a:ea typeface="Arial"/>
              <a:cs typeface="Arial"/>
              <a:sym typeface="Arial"/>
            </a:endParaRPr>
          </a:p>
        </p:txBody>
      </p:sp>
      <p:pic>
        <p:nvPicPr>
          <p:cNvPr id="3" name="Picture 2">
            <a:extLst>
              <a:ext uri="{FF2B5EF4-FFF2-40B4-BE49-F238E27FC236}">
                <a16:creationId xmlns:a16="http://schemas.microsoft.com/office/drawing/2014/main" id="{7737C001-C90D-3AA2-FADF-6B73FBE0E71F}"/>
              </a:ext>
            </a:extLst>
          </p:cNvPr>
          <p:cNvPicPr>
            <a:picLocks noChangeAspect="1"/>
          </p:cNvPicPr>
          <p:nvPr/>
        </p:nvPicPr>
        <p:blipFill>
          <a:blip r:embed="rId3"/>
          <a:stretch>
            <a:fillRect/>
          </a:stretch>
        </p:blipFill>
        <p:spPr>
          <a:xfrm>
            <a:off x="4007909" y="3613663"/>
            <a:ext cx="1309158" cy="1016707"/>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sp>
        <p:nvSpPr>
          <p:cNvPr id="95" name="Google Shape;95;p34"/>
          <p:cNvSpPr txBox="1"/>
          <p:nvPr/>
        </p:nvSpPr>
        <p:spPr>
          <a:xfrm>
            <a:off x="364067" y="1165753"/>
            <a:ext cx="11370733" cy="5693826"/>
          </a:xfrm>
          <a:prstGeom prst="rect">
            <a:avLst/>
          </a:prstGeom>
          <a:noFill/>
          <a:ln>
            <a:noFill/>
          </a:ln>
        </p:spPr>
        <p:txBody>
          <a:bodyPr spcFirstLastPara="1" wrap="square" lIns="91425" tIns="45700" rIns="91425" bIns="45700" anchor="t" anchorCtr="0">
            <a:spAutoFit/>
          </a:bodyPr>
          <a:lstStyle/>
          <a:p>
            <a:pPr latinLnBrk="1"/>
            <a:r>
              <a:rPr lang="en-US" sz="1400" b="1" i="0" u="none" strike="noStrike" cap="none" dirty="0">
                <a:solidFill>
                  <a:srgbClr val="000000"/>
                </a:solidFill>
                <a:latin typeface="Arial"/>
                <a:ea typeface="Arial"/>
                <a:cs typeface="Arial"/>
                <a:sym typeface="Arial"/>
              </a:rPr>
              <a:t>Problem Statement : </a:t>
            </a:r>
            <a:r>
              <a:rPr lang="en-IN" b="1" dirty="0" err="1"/>
              <a:t>Analyzing</a:t>
            </a:r>
            <a:r>
              <a:rPr lang="en-IN" b="1" dirty="0"/>
              <a:t> Demographic and Regional Disparities in Tele-Law Case Registrations for Inclusive Legal Access</a:t>
            </a:r>
          </a:p>
          <a:p>
            <a:pPr latinLnBrk="1"/>
            <a:endParaRPr lang="en-US" sz="1400" b="1" i="0" u="none" strike="noStrike" cap="none" dirty="0">
              <a:solidFill>
                <a:srgbClr val="000000"/>
              </a:solidFill>
              <a:latin typeface="Arial"/>
              <a:ea typeface="Arial"/>
              <a:cs typeface="Arial"/>
              <a:sym typeface="Arial"/>
            </a:endParaRPr>
          </a:p>
          <a:p>
            <a:pPr latinLnBrk="1"/>
            <a:r>
              <a:rPr lang="en-US" sz="1400" b="1" i="0" u="none" strike="noStrike" cap="none" dirty="0">
                <a:solidFill>
                  <a:srgbClr val="000000"/>
                </a:solidFill>
                <a:latin typeface="Arial"/>
                <a:ea typeface="Arial"/>
                <a:cs typeface="Arial"/>
                <a:sym typeface="Arial"/>
              </a:rPr>
              <a:t>The Challenge</a:t>
            </a:r>
            <a:r>
              <a:rPr lang="en-US" sz="1400" b="0" i="0" u="none" strike="noStrike" cap="none" dirty="0">
                <a:solidFill>
                  <a:srgbClr val="000000"/>
                </a:solidFill>
                <a:latin typeface="Arial"/>
                <a:ea typeface="Arial"/>
                <a:cs typeface="Arial"/>
                <a:sym typeface="Arial"/>
              </a:rPr>
              <a:t> </a:t>
            </a:r>
            <a:endParaRPr lang="en-US" dirty="0"/>
          </a:p>
          <a:p>
            <a:pPr latinLnBrk="1"/>
            <a:r>
              <a:rPr lang="en-IN" dirty="0"/>
              <a:t>Tele-Law is a Government of India initiative providing free legal advice through Common Service Centres (CSCs). Despite its expansion, case registration volumes vary significantly across districts, states, and demographic groups.</a:t>
            </a:r>
          </a:p>
          <a:p>
            <a:pPr latinLnBrk="1"/>
            <a:endParaRPr lang="en-IN" dirty="0"/>
          </a:p>
          <a:p>
            <a:pPr latinLnBrk="1"/>
            <a:r>
              <a:rPr lang="en-IN" dirty="0"/>
              <a:t>Key Challenges:</a:t>
            </a:r>
          </a:p>
          <a:p>
            <a:pPr latinLnBrk="1"/>
            <a:r>
              <a:rPr lang="en-IN" dirty="0"/>
              <a:t>• Identifying underserved districts</a:t>
            </a:r>
          </a:p>
          <a:p>
            <a:pPr latinLnBrk="1"/>
            <a:r>
              <a:rPr lang="en-IN" dirty="0"/>
              <a:t>• Understanding root causes of low registrations</a:t>
            </a:r>
          </a:p>
          <a:p>
            <a:pPr latinLnBrk="1"/>
            <a:r>
              <a:rPr lang="en-IN" dirty="0"/>
              <a:t>• Prioritizing interventions effectively</a:t>
            </a:r>
          </a:p>
          <a:p>
            <a:pPr latinLnBrk="1"/>
            <a:r>
              <a:rPr lang="en-IN" dirty="0"/>
              <a:t>• Tracking progress over time</a:t>
            </a:r>
          </a:p>
          <a:p>
            <a:pPr latinLnBrk="1"/>
            <a:endParaRPr lang="en-IN" dirty="0"/>
          </a:p>
          <a:p>
            <a:pPr latinLnBrk="1"/>
            <a:r>
              <a:rPr lang="en-IN" dirty="0"/>
              <a:t>Without a data-driven approach, resources may be misallocated, and the goal of "inclusive legal access" remains unfulfilled. The challenge is to </a:t>
            </a:r>
            <a:r>
              <a:rPr lang="en-IN" dirty="0" err="1"/>
              <a:t>analyze</a:t>
            </a:r>
            <a:r>
              <a:rPr lang="en-IN" dirty="0"/>
              <a:t> Tele-Law case registration data alongside demographic indicators to detect disparity patterns and generate actionable policy recommendations.</a:t>
            </a:r>
          </a:p>
          <a:p>
            <a:pPr marL="0" marR="0" lvl="0" indent="0" algn="l" rtl="0">
              <a:lnSpc>
                <a:spcPct val="100000"/>
              </a:lnSpc>
              <a:spcBef>
                <a:spcPts val="0"/>
              </a:spcBef>
              <a:spcAft>
                <a:spcPts val="0"/>
              </a:spcAft>
              <a:buNone/>
            </a:pPr>
            <a:endParaRPr lang="en-US" sz="1400" b="1"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r>
              <a:rPr lang="en-US" sz="1400" b="1" i="0" u="none" strike="noStrike" cap="none" dirty="0">
                <a:solidFill>
                  <a:srgbClr val="000000"/>
                </a:solidFill>
                <a:latin typeface="Arial"/>
                <a:ea typeface="Arial"/>
                <a:cs typeface="Arial"/>
                <a:sym typeface="Arial"/>
              </a:rPr>
              <a:t>The Objective</a:t>
            </a:r>
            <a:r>
              <a:rPr lang="en-US" sz="1400" b="0" i="0" u="none" strike="noStrike" cap="none" dirty="0">
                <a:solidFill>
                  <a:srgbClr val="000000"/>
                </a:solidFill>
                <a:latin typeface="Arial"/>
                <a:ea typeface="Arial"/>
                <a:cs typeface="Arial"/>
                <a:sym typeface="Arial"/>
              </a:rPr>
              <a:t> </a:t>
            </a:r>
          </a:p>
          <a:p>
            <a:pPr latinLnBrk="1"/>
            <a:r>
              <a:rPr lang="en-IN" dirty="0"/>
              <a:t>Build an AI-powered Decision Support System that:</a:t>
            </a:r>
          </a:p>
          <a:p>
            <a:pPr latinLnBrk="1"/>
            <a:r>
              <a:rPr lang="en-IN" dirty="0"/>
              <a:t>• </a:t>
            </a:r>
            <a:r>
              <a:rPr lang="en-IN" dirty="0" err="1"/>
              <a:t>Analyzes</a:t>
            </a:r>
            <a:r>
              <a:rPr lang="en-IN" dirty="0"/>
              <a:t> district-wise Tele-Law case registrations (2021-22 to 2024-25)</a:t>
            </a:r>
          </a:p>
          <a:p>
            <a:pPr latinLnBrk="1"/>
            <a:r>
              <a:rPr lang="en-IN" dirty="0"/>
              <a:t>• Identifies underserved districts using ML classification models</a:t>
            </a:r>
          </a:p>
          <a:p>
            <a:pPr latinLnBrk="1"/>
            <a:r>
              <a:rPr lang="en-IN" dirty="0"/>
              <a:t>• Explains why districts are underserved using SHAP explainability</a:t>
            </a:r>
          </a:p>
          <a:p>
            <a:pPr latinLnBrk="1"/>
            <a:r>
              <a:rPr lang="en-IN" dirty="0"/>
              <a:t>• Generates policy recommendations using IBM Granite (watsonx.ai)</a:t>
            </a:r>
          </a:p>
          <a:p>
            <a:pPr latinLnBrk="1"/>
            <a:r>
              <a:rPr lang="en-IN" dirty="0"/>
              <a:t>• Provides an interactive dashboard for policymakers</a:t>
            </a:r>
          </a:p>
          <a:p>
            <a:pPr marL="0" marR="0" lvl="0" indent="0" algn="l" rtl="0">
              <a:lnSpc>
                <a:spcPct val="100000"/>
              </a:lnSpc>
              <a:spcBef>
                <a:spcPts val="0"/>
              </a:spcBef>
              <a:spcAft>
                <a:spcPts val="0"/>
              </a:spcAft>
              <a:buNone/>
            </a:pPr>
            <a:endParaRPr lang="en-US"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p:txBody>
      </p:sp>
      <p:sp>
        <p:nvSpPr>
          <p:cNvPr id="96" name="Google Shape;96;p34"/>
          <p:cNvSpPr txBox="1"/>
          <p:nvPr/>
        </p:nvSpPr>
        <p:spPr>
          <a:xfrm>
            <a:off x="576072" y="704088"/>
            <a:ext cx="7214616"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400" b="1" i="0" u="none" strike="noStrike" cap="none" dirty="0">
                <a:solidFill>
                  <a:srgbClr val="000000"/>
                </a:solidFill>
                <a:latin typeface="Arial"/>
                <a:ea typeface="Arial"/>
                <a:cs typeface="Arial"/>
                <a:sym typeface="Arial"/>
              </a:rPr>
              <a:t>Problem Statement -</a:t>
            </a:r>
            <a:endParaRPr sz="2400" b="1" i="0" u="none" strike="noStrike" cap="none" dirty="0">
              <a:solidFill>
                <a:srgbClr val="000000"/>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sp>
        <p:nvSpPr>
          <p:cNvPr id="101" name="Google Shape;101;p35"/>
          <p:cNvSpPr txBox="1"/>
          <p:nvPr/>
        </p:nvSpPr>
        <p:spPr>
          <a:xfrm>
            <a:off x="455468" y="1168656"/>
            <a:ext cx="10607040" cy="5478382"/>
          </a:xfrm>
          <a:prstGeom prst="rect">
            <a:avLst/>
          </a:prstGeom>
          <a:noFill/>
          <a:ln>
            <a:noFill/>
          </a:ln>
        </p:spPr>
        <p:txBody>
          <a:bodyPr spcFirstLastPara="1" wrap="square" lIns="91425" tIns="45700" rIns="91425" bIns="45700" anchor="t" anchorCtr="0">
            <a:spAutoFit/>
          </a:bodyPr>
          <a:lstStyle/>
          <a:p>
            <a:pPr lvl="0"/>
            <a:r>
              <a:rPr lang="en-US" dirty="0"/>
              <a:t>Proposed Solution: </a:t>
            </a:r>
            <a:r>
              <a:rPr lang="en-US" dirty="0" err="1"/>
              <a:t>JusticeLens</a:t>
            </a:r>
            <a:r>
              <a:rPr lang="en-US" dirty="0"/>
              <a:t> AI</a:t>
            </a:r>
          </a:p>
          <a:p>
            <a:pPr lvl="0"/>
            <a:r>
              <a:rPr lang="en-US" dirty="0"/>
              <a:t>The proposed solution is an ML-powered AI Decision Support System built using Python, IBM watsonx.ai, and IBM Granite Models to analyze demographic and regional disparities in Tele-Law case registrations across India. The system addresses challenges in identifying underserved districts, understanding root causes of low registrations, and generating actionable policy recommendations through an intelligent, modular architecture.</a:t>
            </a:r>
          </a:p>
          <a:p>
            <a:pPr lvl="0"/>
            <a:r>
              <a:rPr lang="en-US" dirty="0"/>
              <a:t>At its core, the solution uses a data engineering pipeline to ingest district-wise Tele-Law case registration data from official sources (data.gov.in) across fiscal years 2021-22 to 2024-25. A synthetic fallback mechanism ensures the system remains functional even when live data is unavailable. The pipeline harmonizes schema drift across fiscal years, validates data quality, and reconciles district names against demographic datasets (population, literacy, rural population percentage, sex ratio).</a:t>
            </a:r>
          </a:p>
          <a:p>
            <a:pPr lvl="0"/>
            <a:endParaRPr lang="en-US" dirty="0"/>
          </a:p>
          <a:p>
            <a:pPr lvl="0"/>
            <a:r>
              <a:rPr lang="en-US" dirty="0"/>
              <a:t>The system engineers five key features: </a:t>
            </a:r>
            <a:r>
              <a:rPr lang="en-US" dirty="0" err="1"/>
              <a:t>cases_per_lakh_population</a:t>
            </a:r>
            <a:r>
              <a:rPr lang="en-US" dirty="0"/>
              <a:t>, </a:t>
            </a:r>
            <a:r>
              <a:rPr lang="en-US" dirty="0" err="1"/>
              <a:t>advice_enabled_ratio</a:t>
            </a:r>
            <a:r>
              <a:rPr lang="en-US" dirty="0"/>
              <a:t>, </a:t>
            </a:r>
            <a:r>
              <a:rPr lang="en-US" dirty="0" err="1"/>
              <a:t>yoy_growth_rate</a:t>
            </a:r>
            <a:r>
              <a:rPr lang="en-US" dirty="0"/>
              <a:t>, </a:t>
            </a:r>
            <a:r>
              <a:rPr lang="en-US" dirty="0" err="1"/>
              <a:t>rural_penetration_index</a:t>
            </a:r>
            <a:r>
              <a:rPr lang="en-US" dirty="0"/>
              <a:t>, and </a:t>
            </a:r>
            <a:r>
              <a:rPr lang="en-US" dirty="0" err="1"/>
              <a:t>literacy_adjusted_expected_load</a:t>
            </a:r>
            <a:r>
              <a:rPr lang="en-US" dirty="0"/>
              <a:t>. These features feed into a machine learning pipeline consisting of five classification models: Logistic Regression, Decision Tree, Random Forest, Gradient Boosting, and </a:t>
            </a:r>
            <a:r>
              <a:rPr lang="en-US" dirty="0" err="1"/>
              <a:t>XGBoost</a:t>
            </a:r>
            <a:r>
              <a:rPr lang="en-US" dirty="0"/>
              <a:t>. The best-performing model is selected using cross-validated ROC-AUC.</a:t>
            </a:r>
          </a:p>
          <a:p>
            <a:pPr lvl="0"/>
            <a:endParaRPr lang="en-US" dirty="0"/>
          </a:p>
          <a:p>
            <a:pPr lvl="0"/>
            <a:r>
              <a:rPr lang="en-US" dirty="0"/>
              <a:t>SHAP (</a:t>
            </a:r>
            <a:r>
              <a:rPr lang="en-US" dirty="0" err="1"/>
              <a:t>SHapley</a:t>
            </a:r>
            <a:r>
              <a:rPr lang="en-US" dirty="0"/>
              <a:t> Additive </a:t>
            </a:r>
            <a:r>
              <a:rPr lang="en-US" dirty="0" err="1"/>
              <a:t>exPlanations</a:t>
            </a:r>
            <a:r>
              <a:rPr lang="en-US" dirty="0"/>
              <a:t>) is used to provide explainability at two levels: global feature importance (identifying which factors drive disparity across all districts) and local explanations (why a specific district is predicted as underserved). This ensures transparency and accountability in decision-making.</a:t>
            </a:r>
          </a:p>
          <a:p>
            <a:pPr lvl="0"/>
            <a:r>
              <a:rPr lang="en-US" dirty="0"/>
              <a:t>IBM Granite (via IBM watsonx.ai) is integrated as the narration layer, generating executive summaries, policy recommendations, and natural language Q&amp;A responses. The system includes a user-friendly </a:t>
            </a:r>
            <a:r>
              <a:rPr lang="en-US" dirty="0" err="1"/>
              <a:t>Streamlit</a:t>
            </a:r>
            <a:r>
              <a:rPr lang="en-US" dirty="0"/>
              <a:t> dashboard with 7 interactive pages that visualize daily and weekly insights, highlights disparities, and tracks progress toward inclusive legal access goals.</a:t>
            </a:r>
          </a:p>
          <a:p>
            <a:pPr lvl="0"/>
            <a:r>
              <a:rPr lang="en-US" dirty="0"/>
              <a:t>The solution is deployed with a </a:t>
            </a:r>
            <a:r>
              <a:rPr lang="en-US" dirty="0" err="1"/>
              <a:t>FastAPI</a:t>
            </a:r>
            <a:r>
              <a:rPr lang="en-US" dirty="0"/>
              <a:t> backend on Render.com, a </a:t>
            </a:r>
            <a:r>
              <a:rPr lang="en-US" dirty="0" err="1"/>
              <a:t>Streamlit</a:t>
            </a:r>
            <a:r>
              <a:rPr lang="en-US" dirty="0"/>
              <a:t> frontend on </a:t>
            </a:r>
            <a:r>
              <a:rPr lang="en-US" dirty="0" err="1"/>
              <a:t>Streamlit</a:t>
            </a:r>
            <a:r>
              <a:rPr lang="en-US" dirty="0"/>
              <a:t> Cloud, and IBM Cloud for watsonx.ai services. GitHub is used for version control and CI/CD. Overall, this solution delivers an end-to-end intelligent Decision Support System that promotes inclusive legal access through personalized insights, real-time feedback, and preventive policy recommendations.</a:t>
            </a:r>
            <a:endParaRPr b="0" i="0" u="none" strike="noStrike" cap="none" dirty="0">
              <a:solidFill>
                <a:srgbClr val="000000"/>
              </a:solidFill>
              <a:latin typeface="Arial"/>
              <a:ea typeface="Arial"/>
              <a:cs typeface="Arial"/>
              <a:sym typeface="Arial"/>
            </a:endParaRPr>
          </a:p>
        </p:txBody>
      </p:sp>
      <p:sp>
        <p:nvSpPr>
          <p:cNvPr id="102" name="Google Shape;102;p35"/>
          <p:cNvSpPr txBox="1"/>
          <p:nvPr/>
        </p:nvSpPr>
        <p:spPr>
          <a:xfrm>
            <a:off x="576072" y="704088"/>
            <a:ext cx="7214616" cy="400069"/>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000" b="1" i="0" u="none" strike="noStrike" cap="none" dirty="0">
                <a:solidFill>
                  <a:srgbClr val="000000"/>
                </a:solidFill>
                <a:latin typeface="Arial"/>
                <a:ea typeface="Arial"/>
                <a:cs typeface="Arial"/>
                <a:sym typeface="Arial"/>
              </a:rPr>
              <a:t>Proposed Solution -</a:t>
            </a:r>
            <a:endParaRPr sz="2000" b="1" i="0" u="none" strike="noStrike" cap="none" dirty="0">
              <a:solidFill>
                <a:srgbClr val="000000"/>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6"/>
        <p:cNvGrpSpPr/>
        <p:nvPr/>
      </p:nvGrpSpPr>
      <p:grpSpPr>
        <a:xfrm>
          <a:off x="0" y="0"/>
          <a:ext cx="0" cy="0"/>
          <a:chOff x="0" y="0"/>
          <a:chExt cx="0" cy="0"/>
        </a:xfrm>
      </p:grpSpPr>
      <p:sp>
        <p:nvSpPr>
          <p:cNvPr id="107" name="Google Shape;107;p36"/>
          <p:cNvSpPr txBox="1"/>
          <p:nvPr/>
        </p:nvSpPr>
        <p:spPr>
          <a:xfrm>
            <a:off x="777240" y="484632"/>
            <a:ext cx="7123176"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400" b="1" i="0" u="none" strike="noStrike" cap="none" dirty="0">
                <a:solidFill>
                  <a:srgbClr val="000000"/>
                </a:solidFill>
                <a:latin typeface="Arial"/>
                <a:ea typeface="Arial"/>
                <a:cs typeface="Arial"/>
                <a:sym typeface="Arial"/>
              </a:rPr>
              <a:t>Technology Used</a:t>
            </a:r>
            <a:endParaRPr sz="2400" b="1" i="0" u="none" strike="noStrike" cap="none" dirty="0">
              <a:solidFill>
                <a:srgbClr val="000000"/>
              </a:solidFill>
              <a:latin typeface="Arial"/>
              <a:ea typeface="Arial"/>
              <a:cs typeface="Arial"/>
              <a:sym typeface="Arial"/>
            </a:endParaRPr>
          </a:p>
        </p:txBody>
      </p:sp>
      <p:sp>
        <p:nvSpPr>
          <p:cNvPr id="108" name="Google Shape;108;p36"/>
          <p:cNvSpPr txBox="1"/>
          <p:nvPr/>
        </p:nvSpPr>
        <p:spPr>
          <a:xfrm>
            <a:off x="626533" y="946298"/>
            <a:ext cx="10666307" cy="5016718"/>
          </a:xfrm>
          <a:prstGeom prst="rect">
            <a:avLst/>
          </a:prstGeom>
          <a:noFill/>
          <a:ln>
            <a:noFill/>
          </a:ln>
        </p:spPr>
        <p:txBody>
          <a:bodyPr spcFirstLastPara="1" wrap="square" lIns="91425" tIns="45700" rIns="91425" bIns="45700" anchor="t" anchorCtr="0">
            <a:spAutoFit/>
          </a:bodyPr>
          <a:lstStyle/>
          <a:p>
            <a:pPr marL="285750" lvl="0" indent="-285750">
              <a:buFont typeface="Arial" panose="020B0604020202020204" pitchFamily="34" charset="0"/>
              <a:buChar char="•"/>
            </a:pPr>
            <a:r>
              <a:rPr lang="en-US" sz="1600" b="1" dirty="0"/>
              <a:t>IBM Cloud Platform </a:t>
            </a:r>
            <a:r>
              <a:rPr lang="en-US" sz="1600" dirty="0"/>
              <a:t>– Provides the infrastructure to build, deploy, and scale the </a:t>
            </a:r>
            <a:r>
              <a:rPr lang="en-US" sz="1600" dirty="0" err="1"/>
              <a:t>JusticeLens</a:t>
            </a:r>
            <a:r>
              <a:rPr lang="en-US" sz="1600" dirty="0"/>
              <a:t> AI system efficiently. </a:t>
            </a:r>
          </a:p>
          <a:p>
            <a:pPr marL="285750" lvl="0" indent="-285750">
              <a:lnSpc>
                <a:spcPct val="200000"/>
              </a:lnSpc>
              <a:buFont typeface="Arial" panose="020B0604020202020204" pitchFamily="34" charset="0"/>
              <a:buChar char="•"/>
            </a:pPr>
            <a:r>
              <a:rPr lang="en-US" sz="1600" b="1" dirty="0"/>
              <a:t>IBM watsonx.ai </a:t>
            </a:r>
            <a:r>
              <a:rPr lang="en-US" sz="1600" dirty="0"/>
              <a:t>– For model deployment, embeddings, and AI governance. </a:t>
            </a:r>
          </a:p>
          <a:p>
            <a:pPr marL="285750" lvl="0" indent="-285750">
              <a:lnSpc>
                <a:spcPct val="200000"/>
              </a:lnSpc>
              <a:buFont typeface="Arial" panose="020B0604020202020204" pitchFamily="34" charset="0"/>
              <a:buChar char="•"/>
            </a:pPr>
            <a:r>
              <a:rPr lang="en-US" sz="1600" b="1" dirty="0"/>
              <a:t>IBM Granite Model </a:t>
            </a:r>
            <a:r>
              <a:rPr lang="en-US" sz="1600" dirty="0"/>
              <a:t>– </a:t>
            </a:r>
            <a:r>
              <a:rPr lang="en-US" sz="1600" dirty="0" err="1"/>
              <a:t>ibm</a:t>
            </a:r>
            <a:r>
              <a:rPr lang="en-US" sz="1600" dirty="0"/>
              <a:t>/granite-13b-instruct-v2 – For natural language understanding, reasoning, and personalization. </a:t>
            </a:r>
          </a:p>
          <a:p>
            <a:pPr marL="285750" lvl="0" indent="-285750">
              <a:lnSpc>
                <a:spcPct val="200000"/>
              </a:lnSpc>
              <a:buFont typeface="Arial" panose="020B0604020202020204" pitchFamily="34" charset="0"/>
              <a:buChar char="•"/>
            </a:pPr>
            <a:r>
              <a:rPr lang="en-US" sz="1600" b="1" dirty="0"/>
              <a:t>IBM Bob </a:t>
            </a:r>
            <a:r>
              <a:rPr lang="en-US" sz="1600" dirty="0"/>
              <a:t>– AI-assisted development tool used for documentation generation, unit testing, and code explanations. </a:t>
            </a:r>
          </a:p>
          <a:p>
            <a:pPr marL="285750" lvl="0" indent="-285750">
              <a:lnSpc>
                <a:spcPct val="200000"/>
              </a:lnSpc>
              <a:buFont typeface="Arial" panose="020B0604020202020204" pitchFamily="34" charset="0"/>
              <a:buChar char="•"/>
            </a:pPr>
            <a:r>
              <a:rPr lang="en-US" sz="1600" b="1" dirty="0"/>
              <a:t>Machine Learning Stack </a:t>
            </a:r>
            <a:r>
              <a:rPr lang="en-US" sz="1600" dirty="0"/>
              <a:t>– Python, pandas, </a:t>
            </a:r>
            <a:r>
              <a:rPr lang="en-US" sz="1600" dirty="0" err="1"/>
              <a:t>numpy</a:t>
            </a:r>
            <a:r>
              <a:rPr lang="en-US" sz="1600" dirty="0"/>
              <a:t>, scikit-learn, </a:t>
            </a:r>
            <a:r>
              <a:rPr lang="en-US" sz="1600" dirty="0" err="1"/>
              <a:t>xgboost</a:t>
            </a:r>
            <a:r>
              <a:rPr lang="en-US" sz="1600" dirty="0"/>
              <a:t>, </a:t>
            </a:r>
            <a:r>
              <a:rPr lang="en-US" sz="1600" dirty="0" err="1"/>
              <a:t>shap</a:t>
            </a:r>
            <a:r>
              <a:rPr lang="en-US" sz="1600" dirty="0"/>
              <a:t>, </a:t>
            </a:r>
            <a:r>
              <a:rPr lang="en-US" sz="1600" dirty="0" err="1"/>
              <a:t>joblib</a:t>
            </a:r>
            <a:r>
              <a:rPr lang="en-US" sz="1600" dirty="0"/>
              <a:t>.</a:t>
            </a:r>
          </a:p>
          <a:p>
            <a:pPr marL="285750" lvl="0" indent="-285750">
              <a:lnSpc>
                <a:spcPct val="200000"/>
              </a:lnSpc>
              <a:buFont typeface="Arial" panose="020B0604020202020204" pitchFamily="34" charset="0"/>
              <a:buChar char="•"/>
            </a:pPr>
            <a:r>
              <a:rPr lang="en-US" sz="1600" b="1" dirty="0"/>
              <a:t>Frontend Stack </a:t>
            </a:r>
            <a:r>
              <a:rPr lang="en-US" sz="1600" dirty="0"/>
              <a:t>– </a:t>
            </a:r>
            <a:r>
              <a:rPr lang="en-US" sz="1600" dirty="0" err="1"/>
              <a:t>Streamlit</a:t>
            </a:r>
            <a:r>
              <a:rPr lang="en-US" sz="1600" dirty="0"/>
              <a:t>, </a:t>
            </a:r>
            <a:r>
              <a:rPr lang="en-US" sz="1600" dirty="0" err="1"/>
              <a:t>Plotly</a:t>
            </a:r>
            <a:r>
              <a:rPr lang="en-US" sz="1600" dirty="0"/>
              <a:t>, matplotlib. </a:t>
            </a:r>
          </a:p>
          <a:p>
            <a:pPr marL="285750" lvl="0" indent="-285750">
              <a:lnSpc>
                <a:spcPct val="200000"/>
              </a:lnSpc>
              <a:buFont typeface="Arial" panose="020B0604020202020204" pitchFamily="34" charset="0"/>
              <a:buChar char="•"/>
            </a:pPr>
            <a:r>
              <a:rPr lang="en-US" sz="1600" b="1" dirty="0"/>
              <a:t>Backend Stack </a:t>
            </a:r>
            <a:r>
              <a:rPr lang="en-US" sz="1600" dirty="0"/>
              <a:t>– </a:t>
            </a:r>
            <a:r>
              <a:rPr lang="en-US" sz="1600" dirty="0" err="1"/>
              <a:t>FastAPI</a:t>
            </a:r>
            <a:r>
              <a:rPr lang="en-US" sz="1600" dirty="0"/>
              <a:t>, </a:t>
            </a:r>
            <a:r>
              <a:rPr lang="en-US" sz="1600" dirty="0" err="1"/>
              <a:t>uvicorn</a:t>
            </a:r>
            <a:r>
              <a:rPr lang="en-US" sz="1600" dirty="0"/>
              <a:t>, </a:t>
            </a:r>
            <a:r>
              <a:rPr lang="en-US" sz="1600" dirty="0" err="1"/>
              <a:t>gunicorn</a:t>
            </a:r>
            <a:r>
              <a:rPr lang="en-US" sz="1600" dirty="0"/>
              <a:t>. </a:t>
            </a:r>
          </a:p>
          <a:p>
            <a:pPr marL="285750" lvl="0" indent="-285750">
              <a:lnSpc>
                <a:spcPct val="200000"/>
              </a:lnSpc>
              <a:buFont typeface="Arial" panose="020B0604020202020204" pitchFamily="34" charset="0"/>
              <a:buChar char="•"/>
            </a:pPr>
            <a:r>
              <a:rPr lang="en-US" sz="1600" b="1" dirty="0"/>
              <a:t>Deployment Stack </a:t>
            </a:r>
            <a:r>
              <a:rPr lang="en-US" sz="1600" dirty="0"/>
              <a:t>– </a:t>
            </a:r>
            <a:r>
              <a:rPr lang="en-US" sz="1600" dirty="0" err="1"/>
              <a:t>Streamlit</a:t>
            </a:r>
            <a:r>
              <a:rPr lang="en-US" sz="1600" dirty="0"/>
              <a:t> Cloud, Render.com, IBM Cloud, Docker, GitHub. </a:t>
            </a:r>
          </a:p>
          <a:p>
            <a:pPr marL="285750" lvl="0" indent="-285750">
              <a:lnSpc>
                <a:spcPct val="200000"/>
              </a:lnSpc>
              <a:buFont typeface="Arial" panose="020B0604020202020204" pitchFamily="34" charset="0"/>
              <a:buChar char="•"/>
            </a:pPr>
            <a:r>
              <a:rPr lang="en-US" sz="1600" b="1" dirty="0"/>
              <a:t>Data Source </a:t>
            </a:r>
            <a:r>
              <a:rPr lang="en-US" sz="1600" dirty="0"/>
              <a:t>– data.gov.in – Tele-Law Case Registration Data (FY 2021-22 to 2024-25).</a:t>
            </a:r>
            <a:endParaRPr lang="en-US" sz="1600" b="0" i="0" u="none" strike="noStrike" cap="none" dirty="0">
              <a:solidFill>
                <a:srgbClr val="000000"/>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2"/>
        <p:cNvGrpSpPr/>
        <p:nvPr/>
      </p:nvGrpSpPr>
      <p:grpSpPr>
        <a:xfrm>
          <a:off x="0" y="0"/>
          <a:ext cx="0" cy="0"/>
          <a:chOff x="0" y="0"/>
          <a:chExt cx="0" cy="0"/>
        </a:xfrm>
      </p:grpSpPr>
      <p:sp>
        <p:nvSpPr>
          <p:cNvPr id="113" name="Google Shape;113;p37"/>
          <p:cNvSpPr/>
          <p:nvPr/>
        </p:nvSpPr>
        <p:spPr>
          <a:xfrm>
            <a:off x="537590" y="323239"/>
            <a:ext cx="5880143" cy="102039"/>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000" b="1" dirty="0">
                <a:ea typeface="Times New Roman"/>
              </a:rPr>
              <a:t>Architecture</a:t>
            </a:r>
            <a:r>
              <a:rPr lang="en-US" sz="2000" b="1" i="0" u="none" strike="noStrike" cap="none" dirty="0">
                <a:solidFill>
                  <a:srgbClr val="051D3A"/>
                </a:solidFill>
                <a:latin typeface="Times New Roman"/>
                <a:ea typeface="Times New Roman"/>
                <a:cs typeface="Times New Roman"/>
                <a:sym typeface="Times New Roman"/>
              </a:rPr>
              <a:t> </a:t>
            </a:r>
            <a:r>
              <a:rPr lang="en-US" sz="2000" b="1" i="0" u="none" strike="noStrike" cap="none" dirty="0">
                <a:solidFill>
                  <a:srgbClr val="000000"/>
                </a:solidFill>
                <a:latin typeface="Arial"/>
                <a:ea typeface="Arial"/>
                <a:cs typeface="Arial"/>
                <a:sym typeface="Arial"/>
              </a:rPr>
              <a:t>components  Used -</a:t>
            </a:r>
            <a:endParaRPr sz="2000" b="1" i="0" u="none" strike="noStrike" cap="none" dirty="0">
              <a:solidFill>
                <a:srgbClr val="000000"/>
              </a:solidFill>
              <a:latin typeface="Arial"/>
              <a:ea typeface="Arial"/>
              <a:cs typeface="Arial"/>
              <a:sym typeface="Arial"/>
            </a:endParaRPr>
          </a:p>
        </p:txBody>
      </p:sp>
      <p:sp>
        <p:nvSpPr>
          <p:cNvPr id="114" name="Google Shape;114;p37"/>
          <p:cNvSpPr/>
          <p:nvPr/>
        </p:nvSpPr>
        <p:spPr>
          <a:xfrm>
            <a:off x="2264331" y="6784578"/>
            <a:ext cx="2140744"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15" name="Google Shape;115;p37"/>
          <p:cNvSpPr/>
          <p:nvPr/>
        </p:nvSpPr>
        <p:spPr>
          <a:xfrm>
            <a:off x="1782604"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16" name="Google Shape;116;p37"/>
          <p:cNvSpPr/>
          <p:nvPr/>
        </p:nvSpPr>
        <p:spPr>
          <a:xfrm>
            <a:off x="5732383"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17" name="Google Shape;117;p37"/>
          <p:cNvSpPr/>
          <p:nvPr/>
        </p:nvSpPr>
        <p:spPr>
          <a:xfrm>
            <a:off x="5077301"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18" name="Google Shape;118;p37"/>
          <p:cNvSpPr/>
          <p:nvPr/>
        </p:nvSpPr>
        <p:spPr>
          <a:xfrm>
            <a:off x="9027081"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19" name="Google Shape;119;p37"/>
          <p:cNvSpPr/>
          <p:nvPr/>
        </p:nvSpPr>
        <p:spPr>
          <a:xfrm>
            <a:off x="8371999"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20" name="Google Shape;120;p37"/>
          <p:cNvSpPr txBox="1"/>
          <p:nvPr/>
        </p:nvSpPr>
        <p:spPr>
          <a:xfrm>
            <a:off x="152401" y="592667"/>
            <a:ext cx="11726332" cy="6340157"/>
          </a:xfrm>
          <a:prstGeom prst="rect">
            <a:avLst/>
          </a:prstGeom>
          <a:noFill/>
          <a:ln>
            <a:noFill/>
          </a:ln>
        </p:spPr>
        <p:txBody>
          <a:bodyPr spcFirstLastPara="1" wrap="square" lIns="91425" tIns="45700" rIns="91425" bIns="45700" anchor="t" anchorCtr="0">
            <a:spAutoFit/>
          </a:bodyPr>
          <a:lstStyle/>
          <a:p>
            <a:pPr lvl="0"/>
            <a:r>
              <a:rPr lang="en-IN" dirty="0"/>
              <a:t>1) </a:t>
            </a:r>
            <a:r>
              <a:rPr lang="en-IN" b="1" dirty="0" err="1"/>
              <a:t>TeleLawDataLoader</a:t>
            </a:r>
            <a:r>
              <a:rPr lang="en-IN" dirty="0"/>
              <a:t> – Ingests Tele-Law data from data.gov.in API with retry logic and generates deterministic synthetic fallback when live retrieval fails, returning </a:t>
            </a:r>
            <a:r>
              <a:rPr lang="en-IN" dirty="0" err="1"/>
              <a:t>dataframe</a:t>
            </a:r>
            <a:r>
              <a:rPr lang="en-IN" dirty="0"/>
              <a:t> with synthetic flag for provenance tracking.</a:t>
            </a:r>
          </a:p>
          <a:p>
            <a:pPr lvl="0"/>
            <a:r>
              <a:rPr lang="en-IN" dirty="0"/>
              <a:t>2) </a:t>
            </a:r>
            <a:r>
              <a:rPr lang="en-IN" dirty="0" err="1"/>
              <a:t>T</a:t>
            </a:r>
            <a:r>
              <a:rPr lang="en-IN" b="1" dirty="0" err="1"/>
              <a:t>eleLawDataValidator</a:t>
            </a:r>
            <a:r>
              <a:rPr lang="en-IN" dirty="0"/>
              <a:t> – Checks required columns, nulls, duplicates, data types, validates fiscal year ranges, negative values, and generates structured validation report with critical vs warning issues.</a:t>
            </a:r>
          </a:p>
          <a:p>
            <a:pPr lvl="0"/>
            <a:r>
              <a:rPr lang="en-IN" dirty="0"/>
              <a:t>3) </a:t>
            </a:r>
            <a:r>
              <a:rPr lang="en-IN" b="1" dirty="0" err="1"/>
              <a:t>DataEngineeringPipeline</a:t>
            </a:r>
            <a:r>
              <a:rPr lang="en-IN" b="1" dirty="0"/>
              <a:t> </a:t>
            </a:r>
            <a:r>
              <a:rPr lang="en-IN" dirty="0"/>
              <a:t>– </a:t>
            </a:r>
            <a:r>
              <a:rPr lang="en-IN" dirty="0" err="1"/>
              <a:t>SchemaHarmonizer</a:t>
            </a:r>
            <a:r>
              <a:rPr lang="en-IN" dirty="0"/>
              <a:t> maps raw columns to canonical schema per fiscal year, </a:t>
            </a:r>
            <a:r>
              <a:rPr lang="en-IN" dirty="0" err="1"/>
              <a:t>DataCleaner</a:t>
            </a:r>
            <a:r>
              <a:rPr lang="en-IN" dirty="0"/>
              <a:t> performs type coercion and text normalization, </a:t>
            </a:r>
            <a:r>
              <a:rPr lang="en-IN" dirty="0" err="1"/>
              <a:t>DistrictReconciler</a:t>
            </a:r>
            <a:r>
              <a:rPr lang="en-IN" dirty="0"/>
              <a:t> fuzzy matches district names against demographic data, and Merge left-joins Tele-Law data with reconciled demographic data.</a:t>
            </a:r>
          </a:p>
          <a:p>
            <a:pPr lvl="0"/>
            <a:r>
              <a:rPr lang="en-IN" dirty="0"/>
              <a:t>4) </a:t>
            </a:r>
            <a:r>
              <a:rPr lang="en-IN" b="1" dirty="0" err="1"/>
              <a:t>FeatureEngineer</a:t>
            </a:r>
            <a:r>
              <a:rPr lang="en-IN" dirty="0"/>
              <a:t> – Computes five features: </a:t>
            </a:r>
            <a:r>
              <a:rPr lang="en-IN" dirty="0" err="1"/>
              <a:t>cases_per_lakh_population</a:t>
            </a:r>
            <a:r>
              <a:rPr lang="en-IN" dirty="0"/>
              <a:t>, </a:t>
            </a:r>
            <a:r>
              <a:rPr lang="en-IN" dirty="0" err="1"/>
              <a:t>advice_enabled_ratio</a:t>
            </a:r>
            <a:r>
              <a:rPr lang="en-IN" dirty="0"/>
              <a:t>, </a:t>
            </a:r>
            <a:r>
              <a:rPr lang="en-IN" dirty="0" err="1"/>
              <a:t>yoy_growth_rate</a:t>
            </a:r>
            <a:r>
              <a:rPr lang="en-IN" dirty="0"/>
              <a:t>, </a:t>
            </a:r>
            <a:r>
              <a:rPr lang="en-IN" dirty="0" err="1"/>
              <a:t>rural_penetration_index</a:t>
            </a:r>
            <a:r>
              <a:rPr lang="en-IN" dirty="0"/>
              <a:t>, and </a:t>
            </a:r>
            <a:r>
              <a:rPr lang="en-IN" dirty="0" err="1"/>
              <a:t>literacy_adjusted_expected_load</a:t>
            </a:r>
            <a:r>
              <a:rPr lang="en-IN" dirty="0"/>
              <a:t> using safe division helpers to avoid divide-by-zero errors.</a:t>
            </a:r>
          </a:p>
          <a:p>
            <a:pPr lvl="0"/>
            <a:r>
              <a:rPr lang="en-IN" dirty="0"/>
              <a:t>5) </a:t>
            </a:r>
            <a:r>
              <a:rPr lang="en-IN" b="1" dirty="0" err="1"/>
              <a:t>DisparityTargetBuilder</a:t>
            </a:r>
            <a:r>
              <a:rPr lang="en-IN" dirty="0"/>
              <a:t> – Labels districts in bottom 25% of </a:t>
            </a:r>
            <a:r>
              <a:rPr lang="en-IN" dirty="0" err="1"/>
              <a:t>rural_penetration_index</a:t>
            </a:r>
            <a:r>
              <a:rPr lang="en-IN" dirty="0"/>
              <a:t> as "Underserved" with configurable quantile threshold and validates class distribution.</a:t>
            </a:r>
          </a:p>
          <a:p>
            <a:pPr lvl="0"/>
            <a:r>
              <a:rPr lang="en-IN" dirty="0"/>
              <a:t>6) </a:t>
            </a:r>
            <a:r>
              <a:rPr lang="en-IN" b="1" dirty="0" err="1"/>
              <a:t>ModelTrainer</a:t>
            </a:r>
            <a:r>
              <a:rPr lang="en-IN" dirty="0"/>
              <a:t> – Builds five models: Logistic Regression, Decision Tree, Random Forest, Gradient Boosting, and </a:t>
            </a:r>
            <a:r>
              <a:rPr lang="en-IN" dirty="0" err="1"/>
              <a:t>XGBoost</a:t>
            </a:r>
            <a:r>
              <a:rPr lang="en-IN" dirty="0"/>
              <a:t>, using stratified 5-fold cross-validation, selects best model by ROC-AUC, and saves model bundle via </a:t>
            </a:r>
            <a:r>
              <a:rPr lang="en-IN" dirty="0" err="1"/>
              <a:t>joblib</a:t>
            </a:r>
            <a:r>
              <a:rPr lang="en-IN" dirty="0"/>
              <a:t>.</a:t>
            </a:r>
          </a:p>
          <a:p>
            <a:pPr lvl="0"/>
            <a:r>
              <a:rPr lang="en-IN" dirty="0"/>
              <a:t>7) </a:t>
            </a:r>
            <a:r>
              <a:rPr lang="en-IN" b="1" dirty="0" err="1"/>
              <a:t>ModelEvaluator</a:t>
            </a:r>
            <a:r>
              <a:rPr lang="en-IN" dirty="0"/>
              <a:t> – Computes test metrics: accuracy, precision, recall, F1, ROC-AUC, generates confusion matrix and ROC curve plots, and saves model comparison leaderboard as CSV.</a:t>
            </a:r>
          </a:p>
          <a:p>
            <a:pPr lvl="0"/>
            <a:r>
              <a:rPr lang="en-IN" dirty="0"/>
              <a:t>8) </a:t>
            </a:r>
            <a:r>
              <a:rPr lang="en-IN" b="1" dirty="0" err="1"/>
              <a:t>SHAPExplainer</a:t>
            </a:r>
            <a:r>
              <a:rPr lang="en-IN" dirty="0"/>
              <a:t> – Uses </a:t>
            </a:r>
            <a:r>
              <a:rPr lang="en-IN" dirty="0" err="1"/>
              <a:t>TreeExplainer</a:t>
            </a:r>
            <a:r>
              <a:rPr lang="en-IN" dirty="0"/>
              <a:t> for tree-based models and generic Explainer for linear models, computes global feature importance (mean absolute SHAP value), generates SHAP summary (</a:t>
            </a:r>
            <a:r>
              <a:rPr lang="en-IN" dirty="0" err="1"/>
              <a:t>beeswarm</a:t>
            </a:r>
            <a:r>
              <a:rPr lang="en-IN" dirty="0"/>
              <a:t>) plots, SHAP waterfall plots for single predictions, and produces structured prediction explanations with top contributors.</a:t>
            </a:r>
          </a:p>
          <a:p>
            <a:pPr lvl="0"/>
            <a:r>
              <a:rPr lang="en-IN" dirty="0"/>
              <a:t>9) </a:t>
            </a:r>
            <a:r>
              <a:rPr lang="en-IN" b="1" dirty="0" err="1"/>
              <a:t>GraniteClient</a:t>
            </a:r>
            <a:r>
              <a:rPr lang="en-IN" dirty="0"/>
              <a:t> – REST client for IBM watsonx.ai Foundation Model text generation, manages IAM token exchange (API key → bearer token), implements retry logic with exponential backoff, generates text using IBM Granite models, and returns generation result with token counts and latency.</a:t>
            </a:r>
          </a:p>
          <a:p>
            <a:pPr lvl="0"/>
            <a:r>
              <a:rPr lang="en-IN" dirty="0"/>
              <a:t>10) </a:t>
            </a:r>
            <a:r>
              <a:rPr lang="en-IN" b="1" dirty="0"/>
              <a:t>Narrative Generators </a:t>
            </a:r>
            <a:r>
              <a:rPr lang="en-IN" dirty="0"/>
              <a:t>– </a:t>
            </a:r>
            <a:r>
              <a:rPr lang="en-IN" dirty="0" err="1"/>
              <a:t>ExecutiveSummaryGenerator</a:t>
            </a:r>
            <a:r>
              <a:rPr lang="en-IN" dirty="0"/>
              <a:t> provides scope-level disparity summaries, </a:t>
            </a:r>
            <a:r>
              <a:rPr lang="en-IN" dirty="0" err="1"/>
              <a:t>DistrictComparisonGenerator</a:t>
            </a:r>
            <a:r>
              <a:rPr lang="en-IN" dirty="0"/>
              <a:t> offers side-by-side district comparisons, </a:t>
            </a:r>
            <a:r>
              <a:rPr lang="en-IN" dirty="0" err="1"/>
              <a:t>PolicyRecommendationEngine</a:t>
            </a:r>
            <a:r>
              <a:rPr lang="en-IN" dirty="0"/>
              <a:t> generates rule-based and Granite-generated recommendations, </a:t>
            </a:r>
            <a:r>
              <a:rPr lang="en-IN" dirty="0" err="1"/>
              <a:t>AIReportGenerator</a:t>
            </a:r>
            <a:r>
              <a:rPr lang="en-IN" dirty="0"/>
              <a:t> produces multi-section Markdown policy reports, and </a:t>
            </a:r>
            <a:r>
              <a:rPr lang="en-IN" dirty="0" err="1"/>
              <a:t>JusticeLensQAEngine</a:t>
            </a:r>
            <a:r>
              <a:rPr lang="en-IN" dirty="0"/>
              <a:t> enables natural language Q&amp;A using RAG-lite.</a:t>
            </a:r>
          </a:p>
          <a:p>
            <a:pPr lvl="0"/>
            <a:r>
              <a:rPr lang="en-IN" dirty="0"/>
              <a:t>11) </a:t>
            </a:r>
            <a:r>
              <a:rPr lang="en-IN" b="1" dirty="0" err="1"/>
              <a:t>FastAPI</a:t>
            </a:r>
            <a:r>
              <a:rPr lang="en-IN" b="1" dirty="0"/>
              <a:t> Backend </a:t>
            </a:r>
            <a:r>
              <a:rPr lang="en-IN" dirty="0"/>
              <a:t>– Provides REST endpoints: /, /states, /districts/{state}, /years, /district-data, /executive-summary, /predict, loads model and predictions on startup, and is CORS-enabled for frontend access.</a:t>
            </a:r>
          </a:p>
          <a:p>
            <a:pPr lvl="0"/>
            <a:r>
              <a:rPr lang="en-IN" dirty="0"/>
              <a:t>12) </a:t>
            </a:r>
            <a:r>
              <a:rPr lang="en-IN" b="1" dirty="0" err="1"/>
              <a:t>Streamlit</a:t>
            </a:r>
            <a:r>
              <a:rPr lang="en-IN" b="1" dirty="0"/>
              <a:t> Dashboard </a:t>
            </a:r>
            <a:r>
              <a:rPr lang="en-IN" dirty="0"/>
              <a:t>– Delivers 7 interactive pages: Home, Executive Dashboard, District Explorer, State Comparison, Predictive Intelligence, Explainable AI, IBM </a:t>
            </a:r>
            <a:r>
              <a:rPr lang="en-IN" dirty="0" err="1"/>
              <a:t>watsonx</a:t>
            </a:r>
            <a:r>
              <a:rPr lang="en-IN" dirty="0"/>
              <a:t> Policy Room, and About, using </a:t>
            </a:r>
            <a:r>
              <a:rPr lang="en-IN" dirty="0" err="1"/>
              <a:t>Plotly</a:t>
            </a:r>
            <a:r>
              <a:rPr lang="en-IN" dirty="0"/>
              <a:t> for visualizations with navy-and-gold government-inspired theme, and calls backend API via common/data_service.py.</a:t>
            </a:r>
            <a:endParaRPr sz="1400" b="0" i="0" u="none" strike="noStrike" cap="none" dirty="0">
              <a:solidFill>
                <a:srgbClr val="000000"/>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24"/>
        <p:cNvGrpSpPr/>
        <p:nvPr/>
      </p:nvGrpSpPr>
      <p:grpSpPr>
        <a:xfrm>
          <a:off x="0" y="0"/>
          <a:ext cx="0" cy="0"/>
          <a:chOff x="0" y="0"/>
          <a:chExt cx="0" cy="0"/>
        </a:xfrm>
      </p:grpSpPr>
      <p:sp>
        <p:nvSpPr>
          <p:cNvPr id="125" name="Google Shape;125;p38"/>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400" b="1" i="0" u="none" strike="noStrike" cap="none" dirty="0">
                <a:solidFill>
                  <a:srgbClr val="000000"/>
                </a:solidFill>
                <a:latin typeface="Arial"/>
                <a:ea typeface="Arial"/>
                <a:cs typeface="Arial"/>
                <a:sym typeface="Arial"/>
              </a:rPr>
              <a:t>ML Pipeline</a:t>
            </a:r>
            <a:endParaRPr sz="2400" b="1" i="0" u="none" strike="noStrike" cap="none" dirty="0">
              <a:solidFill>
                <a:srgbClr val="000000"/>
              </a:solidFill>
              <a:latin typeface="Arial"/>
              <a:ea typeface="Arial"/>
              <a:cs typeface="Arial"/>
              <a:sym typeface="Arial"/>
            </a:endParaRPr>
          </a:p>
        </p:txBody>
      </p:sp>
      <p:pic>
        <p:nvPicPr>
          <p:cNvPr id="3" name="Picture 2">
            <a:extLst>
              <a:ext uri="{FF2B5EF4-FFF2-40B4-BE49-F238E27FC236}">
                <a16:creationId xmlns:a16="http://schemas.microsoft.com/office/drawing/2014/main" id="{D2254BDD-113C-10DA-C1C6-D10E6D32A278}"/>
              </a:ext>
            </a:extLst>
          </p:cNvPr>
          <p:cNvPicPr>
            <a:picLocks noChangeAspect="1"/>
          </p:cNvPicPr>
          <p:nvPr/>
        </p:nvPicPr>
        <p:blipFill>
          <a:blip r:embed="rId3"/>
          <a:stretch>
            <a:fillRect/>
          </a:stretch>
        </p:blipFill>
        <p:spPr>
          <a:xfrm>
            <a:off x="1219200" y="800100"/>
            <a:ext cx="9753600" cy="52578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sp>
        <p:nvSpPr>
          <p:cNvPr id="131" name="Google Shape;131;p7"/>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2400" b="1" i="0" u="none" strike="noStrike" cap="none">
                <a:solidFill>
                  <a:schemeClr val="dk1"/>
                </a:solidFill>
                <a:latin typeface="Calibri"/>
                <a:ea typeface="Calibri"/>
                <a:cs typeface="Calibri"/>
                <a:sym typeface="Calibri"/>
              </a:rPr>
              <a:t>Architecture blueprint</a:t>
            </a:r>
            <a:endParaRPr sz="2400" b="0" i="0" u="none" strike="noStrike" cap="none">
              <a:solidFill>
                <a:srgbClr val="000000"/>
              </a:solidFill>
              <a:latin typeface="Arial"/>
              <a:ea typeface="Arial"/>
              <a:cs typeface="Arial"/>
              <a:sym typeface="Arial"/>
            </a:endParaRPr>
          </a:p>
        </p:txBody>
      </p:sp>
      <p:pic>
        <p:nvPicPr>
          <p:cNvPr id="7" name="Picture 6">
            <a:extLst>
              <a:ext uri="{FF2B5EF4-FFF2-40B4-BE49-F238E27FC236}">
                <a16:creationId xmlns:a16="http://schemas.microsoft.com/office/drawing/2014/main" id="{A47F073F-6FF0-03F4-A6F0-0534944D7B08}"/>
              </a:ext>
            </a:extLst>
          </p:cNvPr>
          <p:cNvPicPr>
            <a:picLocks noChangeAspect="1"/>
          </p:cNvPicPr>
          <p:nvPr/>
        </p:nvPicPr>
        <p:blipFill>
          <a:blip r:embed="rId3"/>
          <a:stretch>
            <a:fillRect/>
          </a:stretch>
        </p:blipFill>
        <p:spPr>
          <a:xfrm>
            <a:off x="1219200" y="800100"/>
            <a:ext cx="9753600" cy="52578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36"/>
        <p:cNvGrpSpPr/>
        <p:nvPr/>
      </p:nvGrpSpPr>
      <p:grpSpPr>
        <a:xfrm>
          <a:off x="0" y="0"/>
          <a:ext cx="0" cy="0"/>
          <a:chOff x="0" y="0"/>
          <a:chExt cx="0" cy="0"/>
        </a:xfrm>
      </p:grpSpPr>
      <p:sp>
        <p:nvSpPr>
          <p:cNvPr id="138" name="Google Shape;138;p9"/>
          <p:cNvSpPr txBox="1"/>
          <p:nvPr/>
        </p:nvSpPr>
        <p:spPr>
          <a:xfrm>
            <a:off x="475488" y="283464"/>
            <a:ext cx="9317736" cy="58477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3200" b="1" i="0" u="none" strike="noStrike" cap="none">
                <a:solidFill>
                  <a:srgbClr val="000000"/>
                </a:solidFill>
                <a:latin typeface="Arial"/>
                <a:ea typeface="Arial"/>
                <a:cs typeface="Arial"/>
                <a:sym typeface="Arial"/>
              </a:rPr>
              <a:t>Role of Agentic AI in the solution </a:t>
            </a:r>
            <a:endParaRPr sz="3200" b="1" i="0" u="none" strike="noStrike" cap="none">
              <a:solidFill>
                <a:srgbClr val="000000"/>
              </a:solidFill>
              <a:latin typeface="Arial"/>
              <a:ea typeface="Arial"/>
              <a:cs typeface="Arial"/>
              <a:sym typeface="Arial"/>
            </a:endParaRPr>
          </a:p>
        </p:txBody>
      </p:sp>
      <p:sp>
        <p:nvSpPr>
          <p:cNvPr id="139" name="Google Shape;139;p9"/>
          <p:cNvSpPr txBox="1"/>
          <p:nvPr/>
        </p:nvSpPr>
        <p:spPr>
          <a:xfrm>
            <a:off x="245533" y="808972"/>
            <a:ext cx="11946467" cy="5909270"/>
          </a:xfrm>
          <a:prstGeom prst="rect">
            <a:avLst/>
          </a:prstGeom>
          <a:noFill/>
          <a:ln>
            <a:noFill/>
          </a:ln>
        </p:spPr>
        <p:txBody>
          <a:bodyPr spcFirstLastPara="1" wrap="square" lIns="91425" tIns="45700" rIns="91425" bIns="45700" anchor="t" anchorCtr="0">
            <a:spAutoFit/>
          </a:bodyPr>
          <a:lstStyle/>
          <a:p>
            <a:pPr lvl="0"/>
            <a:r>
              <a:rPr lang="en-US" b="1" dirty="0"/>
              <a:t>Role of Agentic AI in </a:t>
            </a:r>
            <a:r>
              <a:rPr lang="en-US" b="1" dirty="0" err="1"/>
              <a:t>JusticeLens</a:t>
            </a:r>
            <a:r>
              <a:rPr lang="en-US" b="1" dirty="0"/>
              <a:t> AI</a:t>
            </a:r>
          </a:p>
          <a:p>
            <a:pPr lvl="0"/>
            <a:r>
              <a:rPr lang="en-US" dirty="0"/>
              <a:t>Agentic AI enables </a:t>
            </a:r>
            <a:r>
              <a:rPr lang="en-US" dirty="0" err="1"/>
              <a:t>JusticeLens</a:t>
            </a:r>
            <a:r>
              <a:rPr lang="en-US" dirty="0"/>
              <a:t> AI to function as an intelligent, autonomous system rather than a simple dashboard. Using IBM watsonx.ai and IBM Granite models, the system coordinates multiple specialized components to deliver comprehensive policy insights.</a:t>
            </a:r>
          </a:p>
          <a:p>
            <a:pPr lvl="0"/>
            <a:endParaRPr lang="en-US" dirty="0"/>
          </a:p>
          <a:p>
            <a:pPr lvl="0"/>
            <a:r>
              <a:rPr lang="en-US" b="1" dirty="0"/>
              <a:t>The ML Agent (Analyst) </a:t>
            </a:r>
            <a:r>
              <a:rPr lang="en-US" dirty="0"/>
              <a:t>predicts if a district is "Underserved" or "Adequately Served" by training five classification models on district-level data (</a:t>
            </a:r>
            <a:r>
              <a:rPr lang="en-US" dirty="0" err="1"/>
              <a:t>cases_per_lakh_population</a:t>
            </a:r>
            <a:r>
              <a:rPr lang="en-US" dirty="0"/>
              <a:t>, </a:t>
            </a:r>
            <a:r>
              <a:rPr lang="en-US" dirty="0" err="1"/>
              <a:t>advice_enabled_ratio</a:t>
            </a:r>
            <a:r>
              <a:rPr lang="en-US" dirty="0"/>
              <a:t>, </a:t>
            </a:r>
            <a:r>
              <a:rPr lang="en-US" dirty="0" err="1"/>
              <a:t>yoy_growth_rate</a:t>
            </a:r>
            <a:r>
              <a:rPr lang="en-US" dirty="0"/>
              <a:t>, </a:t>
            </a:r>
            <a:r>
              <a:rPr lang="en-US" dirty="0" err="1"/>
              <a:t>rural_penetration_index</a:t>
            </a:r>
            <a:r>
              <a:rPr lang="en-US" dirty="0"/>
              <a:t>, </a:t>
            </a:r>
            <a:r>
              <a:rPr lang="en-US" dirty="0" err="1"/>
              <a:t>literacy_adjusted_expected_load</a:t>
            </a:r>
            <a:r>
              <a:rPr lang="en-US" dirty="0"/>
              <a:t>, population, </a:t>
            </a:r>
            <a:r>
              <a:rPr lang="en-US" dirty="0" err="1"/>
              <a:t>rural_population_pct</a:t>
            </a:r>
            <a:r>
              <a:rPr lang="en-US" dirty="0"/>
              <a:t>, </a:t>
            </a:r>
            <a:r>
              <a:rPr lang="en-US" dirty="0" err="1"/>
              <a:t>literacy_rate_pct</a:t>
            </a:r>
            <a:r>
              <a:rPr lang="en-US" dirty="0"/>
              <a:t>, </a:t>
            </a:r>
            <a:r>
              <a:rPr lang="en-US" dirty="0" err="1"/>
              <a:t>sex_ratio</a:t>
            </a:r>
            <a:r>
              <a:rPr lang="en-US" dirty="0"/>
              <a:t>) and selecting the best model using cross-validated ROC-AUC, outputting predicted class and predicted probability.</a:t>
            </a:r>
          </a:p>
          <a:p>
            <a:pPr lvl="0"/>
            <a:endParaRPr lang="en-US" dirty="0"/>
          </a:p>
          <a:p>
            <a:pPr lvl="0"/>
            <a:r>
              <a:rPr lang="en-US" b="1" dirty="0"/>
              <a:t>The SHAP Agent (Explainer) </a:t>
            </a:r>
            <a:r>
              <a:rPr lang="en-US" dirty="0"/>
              <a:t>explains why a district is predicted as underserved by computing SHAP values for every prediction, providing global feature importance (which factors drive disparity across all districts) and local explanations (why a specific district is underserved), outputting top contributing features with their SHAP values and direction of influence.</a:t>
            </a:r>
          </a:p>
          <a:p>
            <a:pPr lvl="0"/>
            <a:endParaRPr lang="en-US" dirty="0"/>
          </a:p>
          <a:p>
            <a:pPr lvl="0"/>
            <a:r>
              <a:rPr lang="en-US" b="1" dirty="0"/>
              <a:t>The Granite Agent (Narrator) </a:t>
            </a:r>
            <a:r>
              <a:rPr lang="en-US" dirty="0"/>
              <a:t>generates human-readable policy narratives by taking ML predictions and SHAP explanations as input, prompting IBM Granite (via watsonx.ai) to narrate findings, and producing executive summaries, policy recommendations, and Q&amp;A responses.</a:t>
            </a:r>
          </a:p>
          <a:p>
            <a:pPr lvl="0"/>
            <a:endParaRPr lang="en-US" dirty="0"/>
          </a:p>
          <a:p>
            <a:pPr lvl="0"/>
            <a:r>
              <a:rPr lang="en-US" b="1" dirty="0"/>
              <a:t>Agent Coordination Workflow: </a:t>
            </a:r>
            <a:r>
              <a:rPr lang="en-US" dirty="0"/>
              <a:t>User selects a district in the dashboard, ML Agent predicts if the district is underserved, SHAP Agent explains the prediction (top drivers), Granite Agent generates a policy recommendation based on the drivers, and Dashboard displays all three: prediction, explanation, and recommendation.</a:t>
            </a:r>
          </a:p>
          <a:p>
            <a:pPr lvl="0"/>
            <a:endParaRPr lang="en-US" dirty="0"/>
          </a:p>
          <a:p>
            <a:pPr lvl="0"/>
            <a:r>
              <a:rPr lang="en-US" b="1" dirty="0"/>
              <a:t>Key Benefits of Agentic AI</a:t>
            </a:r>
            <a:r>
              <a:rPr lang="en-US" dirty="0"/>
              <a:t>: Context awareness (each agent understands the district's demographic profile, registration history, and regional context), real-time interaction (policymakers can query specific districts and get instant responses), collaborative decision making (agents communicate with each other enabling better decision-making), transparency (every step is auditable and explainable), and fallback readiness (if Granite is unavailable, the system falls back to deterministic templates).</a:t>
            </a:r>
          </a:p>
          <a:p>
            <a:pPr lvl="0"/>
            <a:r>
              <a:rPr lang="en-US" dirty="0"/>
              <a:t>Overall, Agentic AI makes the system proactive, personalized, and goal-driven, acting like a smart policy advisor that helps ensure inclusive legal access for all citizens.</a:t>
            </a:r>
            <a:endParaRPr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21CFE0-B445-844E-EE81-0522971EB2E4}"/>
              </a:ext>
            </a:extLst>
          </p:cNvPr>
          <p:cNvSpPr>
            <a:spLocks noGrp="1"/>
          </p:cNvSpPr>
          <p:nvPr>
            <p:ph type="title"/>
          </p:nvPr>
        </p:nvSpPr>
        <p:spPr>
          <a:xfrm>
            <a:off x="838200" y="365126"/>
            <a:ext cx="10515600" cy="490007"/>
          </a:xfrm>
        </p:spPr>
        <p:txBody>
          <a:bodyPr>
            <a:normAutofit/>
          </a:bodyPr>
          <a:lstStyle/>
          <a:p>
            <a:r>
              <a:rPr lang="en-US" sz="2400" b="1" dirty="0">
                <a:latin typeface="+mj-lt"/>
              </a:rPr>
              <a:t>Token Usage</a:t>
            </a:r>
            <a:endParaRPr lang="en-IN" sz="2400" b="1" dirty="0">
              <a:latin typeface="+mj-lt"/>
            </a:endParaRPr>
          </a:p>
        </p:txBody>
      </p:sp>
      <p:sp>
        <p:nvSpPr>
          <p:cNvPr id="3" name="Text Placeholder 2">
            <a:extLst>
              <a:ext uri="{FF2B5EF4-FFF2-40B4-BE49-F238E27FC236}">
                <a16:creationId xmlns:a16="http://schemas.microsoft.com/office/drawing/2014/main" id="{AB2B83BF-983B-3843-2428-214AFFBDBDE4}"/>
              </a:ext>
            </a:extLst>
          </p:cNvPr>
          <p:cNvSpPr>
            <a:spLocks noGrp="1"/>
          </p:cNvSpPr>
          <p:nvPr>
            <p:ph type="body" idx="1"/>
          </p:nvPr>
        </p:nvSpPr>
        <p:spPr>
          <a:xfrm>
            <a:off x="364067" y="533400"/>
            <a:ext cx="10989733" cy="5643563"/>
          </a:xfrm>
        </p:spPr>
        <p:txBody>
          <a:bodyPr>
            <a:noAutofit/>
          </a:bodyPr>
          <a:lstStyle/>
          <a:p>
            <a:pPr marL="114300" indent="0">
              <a:buNone/>
            </a:pPr>
            <a:endParaRPr lang="en-IN" sz="1400" dirty="0">
              <a:latin typeface="Arial" panose="020B0604020202020204" pitchFamily="34" charset="0"/>
              <a:cs typeface="Arial" panose="020B0604020202020204" pitchFamily="34" charset="0"/>
            </a:endParaRPr>
          </a:p>
          <a:p>
            <a:pPr marL="114300" indent="0">
              <a:buNone/>
            </a:pPr>
            <a:r>
              <a:rPr lang="en-IN" sz="1400" dirty="0">
                <a:latin typeface="Arial" panose="020B0604020202020204" pitchFamily="34" charset="0"/>
                <a:cs typeface="Arial" panose="020B0604020202020204" pitchFamily="34" charset="0"/>
              </a:rPr>
              <a:t>The project used IBM Granite (watsonx.ai) tokens across various components:</a:t>
            </a:r>
          </a:p>
          <a:p>
            <a:pPr marL="114300" indent="0">
              <a:buNone/>
            </a:pPr>
            <a:r>
              <a:rPr lang="en-IN" sz="1400" dirty="0">
                <a:latin typeface="Arial" panose="020B0604020202020204" pitchFamily="34" charset="0"/>
                <a:cs typeface="Arial" panose="020B0604020202020204" pitchFamily="34" charset="0"/>
              </a:rPr>
              <a:t>• Executive Summary: ~300-500 tokens per summary</a:t>
            </a:r>
          </a:p>
          <a:p>
            <a:pPr marL="114300" indent="0">
              <a:buNone/>
            </a:pPr>
            <a:r>
              <a:rPr lang="en-IN" sz="1400" dirty="0">
                <a:latin typeface="Arial" panose="020B0604020202020204" pitchFamily="34" charset="0"/>
                <a:cs typeface="Arial" panose="020B0604020202020204" pitchFamily="34" charset="0"/>
              </a:rPr>
              <a:t>• Policy Recommendation: ~200-400 tokens per recommendation</a:t>
            </a:r>
          </a:p>
          <a:p>
            <a:pPr marL="114300" indent="0">
              <a:buNone/>
            </a:pPr>
            <a:r>
              <a:rPr lang="en-IN" sz="1400" dirty="0">
                <a:latin typeface="Arial" panose="020B0604020202020204" pitchFamily="34" charset="0"/>
                <a:cs typeface="Arial" panose="020B0604020202020204" pitchFamily="34" charset="0"/>
              </a:rPr>
              <a:t>• District Comparison: ~400-600 tokens per comparison</a:t>
            </a:r>
          </a:p>
          <a:p>
            <a:pPr marL="114300" indent="0">
              <a:buNone/>
            </a:pPr>
            <a:r>
              <a:rPr lang="en-IN" sz="1400" dirty="0">
                <a:latin typeface="Arial" panose="020B0604020202020204" pitchFamily="34" charset="0"/>
                <a:cs typeface="Arial" panose="020B0604020202020204" pitchFamily="34" charset="0"/>
              </a:rPr>
              <a:t>• Q&amp;A Response: ~150-300 tokens per answer</a:t>
            </a:r>
          </a:p>
          <a:p>
            <a:pPr marL="114300" indent="0">
              <a:buNone/>
            </a:pPr>
            <a:r>
              <a:rPr lang="en-IN" sz="1400" dirty="0">
                <a:latin typeface="Arial" panose="020B0604020202020204" pitchFamily="34" charset="0"/>
                <a:cs typeface="Arial" panose="020B0604020202020204" pitchFamily="34" charset="0"/>
              </a:rPr>
              <a:t>• Full AI Report: ~800-1200 tokens per report</a:t>
            </a:r>
          </a:p>
          <a:p>
            <a:pPr marL="114300" indent="0">
              <a:buNone/>
            </a:pPr>
            <a:r>
              <a:rPr lang="en-IN" sz="1400" b="1" dirty="0">
                <a:latin typeface="Arial" panose="020B0604020202020204" pitchFamily="34" charset="0"/>
                <a:cs typeface="Arial" panose="020B0604020202020204" pitchFamily="34" charset="0"/>
              </a:rPr>
              <a:t>Total Granite Tokens Used: ~15,000 tokens</a:t>
            </a:r>
          </a:p>
          <a:p>
            <a:pPr marL="114300" indent="0">
              <a:buNone/>
            </a:pPr>
            <a:r>
              <a:rPr lang="en-IN" sz="1400" dirty="0">
                <a:latin typeface="Arial" panose="020B0604020202020204" pitchFamily="34" charset="0"/>
                <a:cs typeface="Arial" panose="020B0604020202020204" pitchFamily="34" charset="0"/>
              </a:rPr>
              <a:t>(Well within IBM Cloud Lite limit of 50,000 tokens/month)</a:t>
            </a:r>
          </a:p>
          <a:p>
            <a:pPr marL="114300" indent="0">
              <a:buNone/>
            </a:pPr>
            <a:r>
              <a:rPr lang="en-IN" sz="1400" dirty="0">
                <a:latin typeface="Arial" panose="020B0604020202020204" pitchFamily="34" charset="0"/>
                <a:cs typeface="Arial" panose="020B0604020202020204" pitchFamily="34" charset="0"/>
              </a:rPr>
              <a:t>Efficient Prompt Design:</a:t>
            </a:r>
          </a:p>
          <a:p>
            <a:pPr marL="114300" indent="0">
              <a:buNone/>
            </a:pPr>
            <a:r>
              <a:rPr lang="en-IN" sz="1400" dirty="0">
                <a:latin typeface="Arial" panose="020B0604020202020204" pitchFamily="34" charset="0"/>
                <a:cs typeface="Arial" panose="020B0604020202020204" pitchFamily="34" charset="0"/>
              </a:rPr>
              <a:t>• Pre-computed structured data injection (SHAP values, predictions)</a:t>
            </a:r>
          </a:p>
          <a:p>
            <a:pPr marL="114300" indent="0">
              <a:buNone/>
            </a:pPr>
            <a:r>
              <a:rPr lang="en-IN" sz="1400" dirty="0">
                <a:latin typeface="Arial" panose="020B0604020202020204" pitchFamily="34" charset="0"/>
                <a:cs typeface="Arial" panose="020B0604020202020204" pitchFamily="34" charset="0"/>
              </a:rPr>
              <a:t>• Concise system prompts to reduce unnecessary output</a:t>
            </a:r>
          </a:p>
          <a:p>
            <a:pPr marL="114300" indent="0">
              <a:buNone/>
            </a:pPr>
            <a:r>
              <a:rPr lang="en-IN" sz="1400" dirty="0">
                <a:latin typeface="Arial" panose="020B0604020202020204" pitchFamily="34" charset="0"/>
                <a:cs typeface="Arial" panose="020B0604020202020204" pitchFamily="34" charset="0"/>
              </a:rPr>
              <a:t>• Template fallback when watsonx.ai is unavailable</a:t>
            </a:r>
          </a:p>
          <a:p>
            <a:pPr marL="114300" indent="0">
              <a:buNone/>
            </a:pPr>
            <a:r>
              <a:rPr lang="en-IN" sz="1400" dirty="0">
                <a:latin typeface="Arial" panose="020B0604020202020204" pitchFamily="34" charset="0"/>
                <a:cs typeface="Arial" panose="020B0604020202020204" pitchFamily="34" charset="0"/>
              </a:rPr>
              <a:t>• Greedy decoding (low temperature = 0.3)</a:t>
            </a:r>
          </a:p>
          <a:p>
            <a:pPr marL="114300" indent="0">
              <a:buNone/>
            </a:pPr>
            <a:r>
              <a:rPr lang="en-IN" sz="1400" b="1" dirty="0">
                <a:latin typeface="Arial" panose="020B0604020202020204" pitchFamily="34" charset="0"/>
                <a:cs typeface="Arial" panose="020B0604020202020204" pitchFamily="34" charset="0"/>
              </a:rPr>
              <a:t>Before Prompt: ~800 tokens (System Preamble + Data Injection)</a:t>
            </a:r>
          </a:p>
          <a:p>
            <a:pPr marL="114300" indent="0">
              <a:buNone/>
            </a:pPr>
            <a:r>
              <a:rPr lang="en-IN" sz="1400" b="1" dirty="0">
                <a:latin typeface="Arial" panose="020B0604020202020204" pitchFamily="34" charset="0"/>
                <a:cs typeface="Arial" panose="020B0604020202020204" pitchFamily="34" charset="0"/>
              </a:rPr>
              <a:t>After Prompt: ~300 tokens (Generated Response)</a:t>
            </a:r>
          </a:p>
          <a:p>
            <a:pPr marL="114300" indent="0">
              <a:buNone/>
            </a:pPr>
            <a:r>
              <a:rPr lang="en-IN" sz="1400" b="1" dirty="0">
                <a:latin typeface="Arial" panose="020B0604020202020204" pitchFamily="34" charset="0"/>
                <a:cs typeface="Arial" panose="020B0604020202020204" pitchFamily="34" charset="0"/>
              </a:rPr>
              <a:t>Total per Generation: ~1,100 tokens</a:t>
            </a:r>
          </a:p>
          <a:p>
            <a:pPr marL="114300" indent="0">
              <a:buNone/>
            </a:pPr>
            <a:r>
              <a:rPr lang="en-IN" sz="1400" b="1" dirty="0">
                <a:latin typeface="Arial" panose="020B0604020202020204" pitchFamily="34" charset="0"/>
                <a:cs typeface="Arial" panose="020B0604020202020204" pitchFamily="34" charset="0"/>
              </a:rPr>
              <a:t>15 generations = ~15,000 tokens (within free limit)</a:t>
            </a:r>
          </a:p>
        </p:txBody>
      </p:sp>
    </p:spTree>
    <p:extLst>
      <p:ext uri="{BB962C8B-B14F-4D97-AF65-F5344CB8AC3E}">
        <p14:creationId xmlns:p14="http://schemas.microsoft.com/office/powerpoint/2010/main" val="92104745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39"/>
          <p:cNvSpPr/>
          <p:nvPr/>
        </p:nvSpPr>
        <p:spPr>
          <a:xfrm>
            <a:off x="793192" y="341560"/>
            <a:ext cx="6444496" cy="704017"/>
          </a:xfrm>
          <a:prstGeom prst="rect">
            <a:avLst/>
          </a:prstGeom>
          <a:noFill/>
          <a:ln>
            <a:noFill/>
          </a:ln>
        </p:spPr>
        <p:txBody>
          <a:bodyPr spcFirstLastPara="1" wrap="square" lIns="0" tIns="0" rIns="0" bIns="0" anchor="t" anchorCtr="0">
            <a:noAutofit/>
          </a:bodyPr>
          <a:lstStyle/>
          <a:p>
            <a:pPr latinLnBrk="1"/>
            <a:r>
              <a:rPr lang="en-IN" sz="2000" b="1" dirty="0"/>
              <a:t>Project Demonstration – Screenshots</a:t>
            </a:r>
          </a:p>
        </p:txBody>
      </p:sp>
      <p:sp>
        <p:nvSpPr>
          <p:cNvPr id="145" name="Google Shape;145;p39"/>
          <p:cNvSpPr/>
          <p:nvPr/>
        </p:nvSpPr>
        <p:spPr>
          <a:xfrm>
            <a:off x="1218724" y="3360216"/>
            <a:ext cx="2328809"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146" name="Google Shape;146;p39"/>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147" name="Google Shape;147;p39"/>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151" name="Google Shape;151;p39"/>
          <p:cNvSpPr txBox="1"/>
          <p:nvPr/>
        </p:nvSpPr>
        <p:spPr>
          <a:xfrm>
            <a:off x="440268" y="772932"/>
            <a:ext cx="3649304" cy="307736"/>
          </a:xfrm>
          <a:prstGeom prst="rect">
            <a:avLst/>
          </a:prstGeom>
          <a:noFill/>
          <a:ln>
            <a:noFill/>
          </a:ln>
        </p:spPr>
        <p:txBody>
          <a:bodyPr spcFirstLastPara="1" wrap="square" lIns="91425" tIns="45700" rIns="91425" bIns="45700" anchor="t" anchorCtr="0">
            <a:spAutoFit/>
          </a:bodyPr>
          <a:lstStyle/>
          <a:p>
            <a:pPr latinLnBrk="1"/>
            <a:r>
              <a:rPr lang="en-IN" b="1" dirty="0"/>
              <a:t>Executive Dashboard</a:t>
            </a:r>
          </a:p>
        </p:txBody>
      </p:sp>
      <p:sp>
        <p:nvSpPr>
          <p:cNvPr id="152" name="Google Shape;152;p39"/>
          <p:cNvSpPr txBox="1"/>
          <p:nvPr/>
        </p:nvSpPr>
        <p:spPr>
          <a:xfrm>
            <a:off x="6409573" y="642023"/>
            <a:ext cx="3649304" cy="307736"/>
          </a:xfrm>
          <a:prstGeom prst="rect">
            <a:avLst/>
          </a:prstGeom>
          <a:noFill/>
          <a:ln>
            <a:noFill/>
          </a:ln>
        </p:spPr>
        <p:txBody>
          <a:bodyPr spcFirstLastPara="1" wrap="square" lIns="91425" tIns="45700" rIns="91425" bIns="45700" anchor="t" anchorCtr="0">
            <a:spAutoFit/>
          </a:bodyPr>
          <a:lstStyle/>
          <a:p>
            <a:r>
              <a:rPr lang="en-IN" b="1" dirty="0"/>
              <a:t>District Explorer</a:t>
            </a:r>
          </a:p>
        </p:txBody>
      </p:sp>
      <p:pic>
        <p:nvPicPr>
          <p:cNvPr id="3" name="Picture 2">
            <a:extLst>
              <a:ext uri="{FF2B5EF4-FFF2-40B4-BE49-F238E27FC236}">
                <a16:creationId xmlns:a16="http://schemas.microsoft.com/office/drawing/2014/main" id="{492EEA80-68C3-FEAD-0707-670FCD6063E5}"/>
              </a:ext>
            </a:extLst>
          </p:cNvPr>
          <p:cNvPicPr>
            <a:picLocks noChangeAspect="1"/>
          </p:cNvPicPr>
          <p:nvPr/>
        </p:nvPicPr>
        <p:blipFill>
          <a:blip r:embed="rId3"/>
          <a:stretch>
            <a:fillRect/>
          </a:stretch>
        </p:blipFill>
        <p:spPr>
          <a:xfrm>
            <a:off x="516552" y="1002638"/>
            <a:ext cx="4656667" cy="2255958"/>
          </a:xfrm>
          <a:prstGeom prst="rect">
            <a:avLst/>
          </a:prstGeom>
        </p:spPr>
      </p:pic>
      <p:pic>
        <p:nvPicPr>
          <p:cNvPr id="5" name="Picture 4">
            <a:extLst>
              <a:ext uri="{FF2B5EF4-FFF2-40B4-BE49-F238E27FC236}">
                <a16:creationId xmlns:a16="http://schemas.microsoft.com/office/drawing/2014/main" id="{B54262CF-6397-DCF7-AD98-B024780EA9B5}"/>
              </a:ext>
            </a:extLst>
          </p:cNvPr>
          <p:cNvPicPr>
            <a:picLocks noChangeAspect="1"/>
          </p:cNvPicPr>
          <p:nvPr/>
        </p:nvPicPr>
        <p:blipFill>
          <a:blip r:embed="rId4"/>
          <a:stretch>
            <a:fillRect/>
          </a:stretch>
        </p:blipFill>
        <p:spPr>
          <a:xfrm>
            <a:off x="6256867" y="1086897"/>
            <a:ext cx="4656667" cy="2342104"/>
          </a:xfrm>
          <a:prstGeom prst="rect">
            <a:avLst/>
          </a:prstGeom>
        </p:spPr>
      </p:pic>
      <p:pic>
        <p:nvPicPr>
          <p:cNvPr id="9" name="Picture 8">
            <a:extLst>
              <a:ext uri="{FF2B5EF4-FFF2-40B4-BE49-F238E27FC236}">
                <a16:creationId xmlns:a16="http://schemas.microsoft.com/office/drawing/2014/main" id="{5EFEF87B-3F2D-C09F-6B6A-87FF9ACB5C96}"/>
              </a:ext>
            </a:extLst>
          </p:cNvPr>
          <p:cNvPicPr>
            <a:picLocks noChangeAspect="1"/>
          </p:cNvPicPr>
          <p:nvPr/>
        </p:nvPicPr>
        <p:blipFill>
          <a:blip r:embed="rId5"/>
          <a:stretch>
            <a:fillRect/>
          </a:stretch>
        </p:blipFill>
        <p:spPr>
          <a:xfrm>
            <a:off x="440268" y="3667993"/>
            <a:ext cx="5350933" cy="2247461"/>
          </a:xfrm>
          <a:prstGeom prst="rect">
            <a:avLst/>
          </a:prstGeom>
        </p:spPr>
      </p:pic>
      <p:sp>
        <p:nvSpPr>
          <p:cNvPr id="10" name="TextBox 9">
            <a:extLst>
              <a:ext uri="{FF2B5EF4-FFF2-40B4-BE49-F238E27FC236}">
                <a16:creationId xmlns:a16="http://schemas.microsoft.com/office/drawing/2014/main" id="{8EAA3B43-B0F6-AA42-0924-60EEFE85B045}"/>
              </a:ext>
            </a:extLst>
          </p:cNvPr>
          <p:cNvSpPr txBox="1"/>
          <p:nvPr/>
        </p:nvSpPr>
        <p:spPr>
          <a:xfrm>
            <a:off x="516552" y="3305478"/>
            <a:ext cx="3733799" cy="307777"/>
          </a:xfrm>
          <a:prstGeom prst="rect">
            <a:avLst/>
          </a:prstGeom>
          <a:noFill/>
        </p:spPr>
        <p:txBody>
          <a:bodyPr wrap="square" rtlCol="0">
            <a:spAutoFit/>
          </a:bodyPr>
          <a:lstStyle/>
          <a:p>
            <a:pPr latinLnBrk="1"/>
            <a:r>
              <a:rPr lang="en-IN" b="1" dirty="0"/>
              <a:t>Predictive Intelligence</a:t>
            </a:r>
          </a:p>
        </p:txBody>
      </p:sp>
      <p:pic>
        <p:nvPicPr>
          <p:cNvPr id="12" name="Picture 11">
            <a:extLst>
              <a:ext uri="{FF2B5EF4-FFF2-40B4-BE49-F238E27FC236}">
                <a16:creationId xmlns:a16="http://schemas.microsoft.com/office/drawing/2014/main" id="{3B3F1685-D717-B408-AE89-8C24763683DC}"/>
              </a:ext>
            </a:extLst>
          </p:cNvPr>
          <p:cNvPicPr>
            <a:picLocks noChangeAspect="1"/>
          </p:cNvPicPr>
          <p:nvPr/>
        </p:nvPicPr>
        <p:blipFill>
          <a:blip r:embed="rId6"/>
          <a:stretch>
            <a:fillRect/>
          </a:stretch>
        </p:blipFill>
        <p:spPr>
          <a:xfrm>
            <a:off x="6373088" y="3661936"/>
            <a:ext cx="4424224" cy="1708778"/>
          </a:xfrm>
          <a:prstGeom prst="rect">
            <a:avLst/>
          </a:prstGeom>
        </p:spPr>
      </p:pic>
      <p:sp>
        <p:nvSpPr>
          <p:cNvPr id="13" name="TextBox 12">
            <a:extLst>
              <a:ext uri="{FF2B5EF4-FFF2-40B4-BE49-F238E27FC236}">
                <a16:creationId xmlns:a16="http://schemas.microsoft.com/office/drawing/2014/main" id="{35945BC0-65F3-1B06-964E-D9CA049F293B}"/>
              </a:ext>
            </a:extLst>
          </p:cNvPr>
          <p:cNvSpPr txBox="1"/>
          <p:nvPr/>
        </p:nvSpPr>
        <p:spPr>
          <a:xfrm>
            <a:off x="2717800" y="6051417"/>
            <a:ext cx="6756400" cy="523220"/>
          </a:xfrm>
          <a:prstGeom prst="rect">
            <a:avLst/>
          </a:prstGeom>
          <a:noFill/>
        </p:spPr>
        <p:txBody>
          <a:bodyPr wrap="square" rtlCol="0">
            <a:spAutoFit/>
          </a:bodyPr>
          <a:lstStyle/>
          <a:p>
            <a:r>
              <a:rPr lang="en-IN" b="1" dirty="0">
                <a:latin typeface="Arial" panose="020B0604020202020204" pitchFamily="34" charset="0"/>
                <a:ea typeface="Times New Roman"/>
                <a:cs typeface="Arial" panose="020B0604020202020204" pitchFamily="34" charset="0"/>
                <a:sym typeface="Times New Roman"/>
              </a:rPr>
              <a:t>Live App :   https://justice-lens-ai-pxby8xqnatrbbsbcr4tnv6.streamlit.app/</a:t>
            </a:r>
          </a:p>
          <a:p>
            <a:endParaRPr lang="en-IN" b="1"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56"/>
        <p:cNvGrpSpPr/>
        <p:nvPr/>
      </p:nvGrpSpPr>
      <p:grpSpPr>
        <a:xfrm>
          <a:off x="0" y="0"/>
          <a:ext cx="0" cy="0"/>
          <a:chOff x="0" y="0"/>
          <a:chExt cx="0" cy="0"/>
        </a:xfrm>
      </p:grpSpPr>
      <p:sp>
        <p:nvSpPr>
          <p:cNvPr id="157" name="Google Shape;157;p40"/>
          <p:cNvSpPr txBox="1"/>
          <p:nvPr/>
        </p:nvSpPr>
        <p:spPr>
          <a:xfrm>
            <a:off x="777240" y="484632"/>
            <a:ext cx="7123176" cy="400069"/>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000" b="1" i="0" u="none" strike="noStrike" cap="none" dirty="0">
                <a:solidFill>
                  <a:srgbClr val="000000"/>
                </a:solidFill>
                <a:latin typeface="Arial"/>
                <a:ea typeface="Arial"/>
                <a:cs typeface="Arial"/>
                <a:sym typeface="Arial"/>
              </a:rPr>
              <a:t>Novelty and Uniqueness</a:t>
            </a:r>
            <a:endParaRPr sz="2000" b="1" i="0" u="none" strike="noStrike" cap="none" dirty="0">
              <a:solidFill>
                <a:srgbClr val="000000"/>
              </a:solidFill>
              <a:latin typeface="Arial"/>
              <a:ea typeface="Arial"/>
              <a:cs typeface="Arial"/>
              <a:sym typeface="Arial"/>
            </a:endParaRPr>
          </a:p>
        </p:txBody>
      </p:sp>
      <p:sp>
        <p:nvSpPr>
          <p:cNvPr id="158" name="Google Shape;158;p40"/>
          <p:cNvSpPr txBox="1"/>
          <p:nvPr/>
        </p:nvSpPr>
        <p:spPr>
          <a:xfrm>
            <a:off x="194733" y="884701"/>
            <a:ext cx="11997267" cy="5909270"/>
          </a:xfrm>
          <a:prstGeom prst="rect">
            <a:avLst/>
          </a:prstGeom>
          <a:noFill/>
          <a:ln>
            <a:noFill/>
          </a:ln>
        </p:spPr>
        <p:txBody>
          <a:bodyPr spcFirstLastPara="1" wrap="square" lIns="91425" tIns="45700" rIns="91425" bIns="45700" anchor="t" anchorCtr="0">
            <a:spAutoFit/>
          </a:bodyPr>
          <a:lstStyle/>
          <a:p>
            <a:pPr lvl="0"/>
            <a:r>
              <a:rPr lang="en-US" dirty="0" err="1"/>
              <a:t>JusticeLens</a:t>
            </a:r>
            <a:r>
              <a:rPr lang="en-US" dirty="0"/>
              <a:t> AI stands out by combining ML explainability, Agentic AI, and policy recommendations into a single intelligent system designed specifically for government decision-making.</a:t>
            </a:r>
          </a:p>
          <a:p>
            <a:pPr lvl="0"/>
            <a:r>
              <a:rPr lang="en-US" b="1" dirty="0"/>
              <a:t>Multi-Model ML Pipeline </a:t>
            </a:r>
            <a:r>
              <a:rPr lang="en-US" dirty="0"/>
              <a:t>– Five models trained and compared (Logistic Regression, Decision Tree, Random Forest, Gradient Boosting, </a:t>
            </a:r>
            <a:r>
              <a:rPr lang="en-US" dirty="0" err="1"/>
              <a:t>XGBoost</a:t>
            </a:r>
            <a:r>
              <a:rPr lang="en-US" dirty="0"/>
              <a:t>) with best selected by cross-validated ROC-AUC. Most Tele-Law analyses use simple descriptive statistics; this project introduces predictive modeling to identify underserved districts before they become critical.</a:t>
            </a:r>
          </a:p>
          <a:p>
            <a:pPr lvl="0"/>
            <a:endParaRPr lang="en-US" dirty="0"/>
          </a:p>
          <a:p>
            <a:pPr lvl="0"/>
            <a:r>
              <a:rPr lang="en-US" b="1" dirty="0"/>
              <a:t>SHAP Explainability (Transparency) </a:t>
            </a:r>
            <a:r>
              <a:rPr lang="en-US" dirty="0"/>
              <a:t>– Every prediction is explained ensuring transparency. Global feature importance identifies key drivers of disparity across all districts, and local explanations provide individual district prediction insights. Government decisions require accountability, and SHAP provides the "why" behind every recommendation, making the system auditable and trustworthy.</a:t>
            </a:r>
          </a:p>
          <a:p>
            <a:pPr lvl="0"/>
            <a:endParaRPr lang="en-US" dirty="0"/>
          </a:p>
          <a:p>
            <a:pPr lvl="0"/>
            <a:r>
              <a:rPr lang="en-US" b="1" dirty="0"/>
              <a:t>IBM Granite Narration (Agentic AI) </a:t>
            </a:r>
            <a:r>
              <a:rPr lang="en-US" dirty="0"/>
              <a:t>– Policy recommendations generated in natural language, executive summaries tailored for policymakers, and natural language Q&amp;A for instant insights. Instead of just showing numbers, the system generates actionable policy recommendations in plain English, bridging the gap between data and decision-making.</a:t>
            </a:r>
          </a:p>
          <a:p>
            <a:pPr lvl="0"/>
            <a:endParaRPr lang="en-US" dirty="0"/>
          </a:p>
          <a:p>
            <a:pPr lvl="0"/>
            <a:r>
              <a:rPr lang="en-US" b="1" dirty="0"/>
              <a:t>Synthetic Data Fallback </a:t>
            </a:r>
            <a:r>
              <a:rPr lang="en-US" dirty="0"/>
              <a:t>– Works even without live data access ensuring the system remains demonstrable at all times. The system is reliable and can be demonstrated even if the official data.gov.in API is temporarily unavailable.</a:t>
            </a:r>
          </a:p>
          <a:p>
            <a:pPr lvl="0"/>
            <a:r>
              <a:rPr lang="en-US" b="1" dirty="0"/>
              <a:t>7-Page Interactive Dashboard </a:t>
            </a:r>
            <a:r>
              <a:rPr lang="en-US" dirty="0"/>
              <a:t>– Designed for non-technical policymakers with no Python or ML expertise required to use. Low barrier to entry – government officials can use the dashboard without technical training.</a:t>
            </a:r>
          </a:p>
          <a:p>
            <a:pPr lvl="0"/>
            <a:endParaRPr lang="en-US" dirty="0"/>
          </a:p>
          <a:p>
            <a:pPr lvl="0"/>
            <a:r>
              <a:rPr lang="en-US" b="1" dirty="0"/>
              <a:t>Enterprise-Ready Architecture </a:t>
            </a:r>
            <a:r>
              <a:rPr lang="en-US" dirty="0"/>
              <a:t>– Modular design (data → features → models → explain → narrate → serve), fully documented, type-annotated, deployed on cloud with public access, and tested with real data. The architecture is designed for production deployment, not just a Jupyter notebook experiment.</a:t>
            </a:r>
          </a:p>
          <a:p>
            <a:pPr lvl="0"/>
            <a:r>
              <a:rPr lang="en-US" b="1" dirty="0"/>
              <a:t>Government-Focused Problem Statement </a:t>
            </a:r>
            <a:r>
              <a:rPr lang="en-US" dirty="0"/>
              <a:t>– Addresses real government Tele-Law program challenges, uses official Government of India data (data.gov.in), and solves a problem with direct societal impact. The project is aligned with government priorities for inclusive legal access (access to justice).</a:t>
            </a:r>
          </a:p>
          <a:p>
            <a:pPr lvl="0"/>
            <a:r>
              <a:rPr lang="en-US" dirty="0"/>
              <a:t>This makes </a:t>
            </a:r>
            <a:r>
              <a:rPr lang="en-US" dirty="0" err="1"/>
              <a:t>JusticeLens</a:t>
            </a:r>
            <a:r>
              <a:rPr lang="en-US" dirty="0"/>
              <a:t> AI a smart, adaptive, and proactive decision support tool for inclusive legal access – not just a static analytics dashboard or a black-box ML model.</a:t>
            </a:r>
            <a:endParaRPr sz="1400" b="0" i="0" u="none" strike="noStrike" cap="none" dirty="0">
              <a:solidFill>
                <a:srgbClr val="000000"/>
              </a:solidFill>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62"/>
        <p:cNvGrpSpPr/>
        <p:nvPr/>
      </p:nvGrpSpPr>
      <p:grpSpPr>
        <a:xfrm>
          <a:off x="0" y="0"/>
          <a:ext cx="0" cy="0"/>
          <a:chOff x="0" y="0"/>
          <a:chExt cx="0" cy="0"/>
        </a:xfrm>
      </p:grpSpPr>
      <p:sp>
        <p:nvSpPr>
          <p:cNvPr id="163" name="Google Shape;163;p41"/>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i="0" u="none" strike="noStrike" cap="none" dirty="0">
                <a:solidFill>
                  <a:srgbClr val="000000"/>
                </a:solidFill>
                <a:latin typeface="Arial"/>
                <a:ea typeface="Arial"/>
                <a:cs typeface="Arial"/>
                <a:sym typeface="Arial"/>
              </a:rPr>
              <a:t>Git Hub Link</a:t>
            </a:r>
            <a:endParaRPr sz="2400" b="1" i="0" u="none" strike="noStrike" cap="none" dirty="0">
              <a:solidFill>
                <a:srgbClr val="000000"/>
              </a:solidFill>
              <a:latin typeface="Arial"/>
              <a:ea typeface="Arial"/>
              <a:cs typeface="Arial"/>
              <a:sym typeface="Arial"/>
            </a:endParaRPr>
          </a:p>
        </p:txBody>
      </p:sp>
      <p:sp>
        <p:nvSpPr>
          <p:cNvPr id="164" name="Google Shape;164;p41"/>
          <p:cNvSpPr/>
          <p:nvPr/>
        </p:nvSpPr>
        <p:spPr>
          <a:xfrm>
            <a:off x="338667" y="931334"/>
            <a:ext cx="11032066" cy="4499380"/>
          </a:xfrm>
          <a:prstGeom prst="rect">
            <a:avLst/>
          </a:prstGeom>
          <a:noFill/>
          <a:ln>
            <a:noFill/>
          </a:ln>
        </p:spPr>
        <p:txBody>
          <a:bodyPr spcFirstLastPara="1" wrap="square" lIns="0" tIns="0" rIns="0" bIns="0" anchor="t" anchorCtr="0">
            <a:noAutofit/>
          </a:bodyPr>
          <a:lstStyle/>
          <a:p>
            <a:pPr lvl="0">
              <a:lnSpc>
                <a:spcPct val="162162"/>
              </a:lnSpc>
              <a:buClr>
                <a:srgbClr val="2B3541"/>
              </a:buClr>
              <a:buSzPts val="1850"/>
            </a:pPr>
            <a:r>
              <a:rPr lang="en-IN" b="1" dirty="0">
                <a:latin typeface="Arial" panose="020B0604020202020204" pitchFamily="34" charset="0"/>
                <a:ea typeface="Times New Roman"/>
                <a:cs typeface="Arial" panose="020B0604020202020204" pitchFamily="34" charset="0"/>
                <a:sym typeface="Times New Roman"/>
              </a:rPr>
              <a:t>Repository URL:</a:t>
            </a:r>
          </a:p>
          <a:p>
            <a:pPr lvl="0">
              <a:lnSpc>
                <a:spcPct val="162162"/>
              </a:lnSpc>
              <a:buClr>
                <a:srgbClr val="2B3541"/>
              </a:buClr>
              <a:buSzPts val="1850"/>
            </a:pPr>
            <a:r>
              <a:rPr lang="en-IN" dirty="0">
                <a:latin typeface="Arial" panose="020B0604020202020204" pitchFamily="34" charset="0"/>
                <a:ea typeface="Times New Roman"/>
                <a:cs typeface="Arial" panose="020B0604020202020204" pitchFamily="34" charset="0"/>
                <a:sym typeface="Times New Roman"/>
              </a:rPr>
              <a:t>https://github.com/Soumya0204-star/Justice-lens-ai</a:t>
            </a:r>
          </a:p>
          <a:p>
            <a:pPr lvl="0">
              <a:lnSpc>
                <a:spcPct val="162162"/>
              </a:lnSpc>
              <a:buClr>
                <a:srgbClr val="2B3541"/>
              </a:buClr>
              <a:buSzPts val="1850"/>
            </a:pPr>
            <a:r>
              <a:rPr lang="en-IN" b="1" dirty="0">
                <a:latin typeface="Arial" panose="020B0604020202020204" pitchFamily="34" charset="0"/>
                <a:ea typeface="Times New Roman"/>
                <a:cs typeface="Arial" panose="020B0604020202020204" pitchFamily="34" charset="0"/>
                <a:sym typeface="Times New Roman"/>
              </a:rPr>
              <a:t>Live App Link:</a:t>
            </a:r>
          </a:p>
          <a:p>
            <a:pPr lvl="0">
              <a:lnSpc>
                <a:spcPct val="162162"/>
              </a:lnSpc>
              <a:buClr>
                <a:srgbClr val="2B3541"/>
              </a:buClr>
              <a:buSzPts val="1850"/>
            </a:pPr>
            <a:r>
              <a:rPr lang="en-IN" dirty="0">
                <a:latin typeface="Arial" panose="020B0604020202020204" pitchFamily="34" charset="0"/>
                <a:ea typeface="Times New Roman"/>
                <a:cs typeface="Arial" panose="020B0604020202020204" pitchFamily="34" charset="0"/>
                <a:sym typeface="Times New Roman"/>
              </a:rPr>
              <a:t>https://justice-lens-ai-pxby8xqnatrbbsbcr4tnv6.streamlit.app/</a:t>
            </a:r>
          </a:p>
          <a:p>
            <a:pPr lvl="0">
              <a:lnSpc>
                <a:spcPct val="162162"/>
              </a:lnSpc>
              <a:buClr>
                <a:srgbClr val="2B3541"/>
              </a:buClr>
              <a:buSzPts val="1850"/>
            </a:pPr>
            <a:r>
              <a:rPr lang="en-IN" b="1" dirty="0">
                <a:latin typeface="Arial" panose="020B0604020202020204" pitchFamily="34" charset="0"/>
                <a:ea typeface="Times New Roman"/>
                <a:cs typeface="Arial" panose="020B0604020202020204" pitchFamily="34" charset="0"/>
                <a:sym typeface="Times New Roman"/>
              </a:rPr>
              <a:t>Backend API Link:</a:t>
            </a:r>
          </a:p>
          <a:p>
            <a:pPr lvl="0">
              <a:lnSpc>
                <a:spcPct val="162162"/>
              </a:lnSpc>
              <a:buClr>
                <a:srgbClr val="2B3541"/>
              </a:buClr>
              <a:buSzPts val="1850"/>
            </a:pPr>
            <a:r>
              <a:rPr lang="en-IN" dirty="0">
                <a:latin typeface="Arial" panose="020B0604020202020204" pitchFamily="34" charset="0"/>
                <a:ea typeface="Times New Roman"/>
                <a:cs typeface="Arial" panose="020B0604020202020204" pitchFamily="34" charset="0"/>
                <a:sym typeface="Times New Roman"/>
              </a:rPr>
              <a:t>https://justice-lens-api.onrender.com/docs</a:t>
            </a:r>
            <a:endParaRPr b="0" i="0" u="none" strike="noStrike" cap="none" dirty="0">
              <a:solidFill>
                <a:srgbClr val="000000"/>
              </a:solidFill>
              <a:latin typeface="Arial" panose="020B0604020202020204" pitchFamily="34" charset="0"/>
              <a:ea typeface="Times New Roman"/>
              <a:cs typeface="Arial" panose="020B0604020202020204" pitchFamily="34" charset="0"/>
              <a:sym typeface="Times New Roman"/>
            </a:endParaRPr>
          </a:p>
        </p:txBody>
      </p:sp>
      <p:sp>
        <p:nvSpPr>
          <p:cNvPr id="165" name="Google Shape;165;p41"/>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166" name="Google Shape;166;p41"/>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167" name="Google Shape;167;p41"/>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71"/>
        <p:cNvGrpSpPr/>
        <p:nvPr/>
      </p:nvGrpSpPr>
      <p:grpSpPr>
        <a:xfrm>
          <a:off x="0" y="0"/>
          <a:ext cx="0" cy="0"/>
          <a:chOff x="0" y="0"/>
          <a:chExt cx="0" cy="0"/>
        </a:xfrm>
      </p:grpSpPr>
      <p:sp>
        <p:nvSpPr>
          <p:cNvPr id="172" name="Google Shape;172;p42"/>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i="0" u="none" strike="noStrike" cap="none">
                <a:solidFill>
                  <a:srgbClr val="000000"/>
                </a:solidFill>
                <a:latin typeface="Arial"/>
                <a:ea typeface="Arial"/>
                <a:cs typeface="Arial"/>
                <a:sym typeface="Arial"/>
              </a:rPr>
              <a:t>Future Scope </a:t>
            </a:r>
            <a:endParaRPr sz="2400" b="1" i="0" u="none" strike="noStrike" cap="none">
              <a:solidFill>
                <a:srgbClr val="000000"/>
              </a:solidFill>
              <a:latin typeface="Arial"/>
              <a:ea typeface="Arial"/>
              <a:cs typeface="Arial"/>
              <a:sym typeface="Arial"/>
            </a:endParaRPr>
          </a:p>
        </p:txBody>
      </p:sp>
      <p:sp>
        <p:nvSpPr>
          <p:cNvPr id="173" name="Google Shape;173;p42"/>
          <p:cNvSpPr/>
          <p:nvPr/>
        </p:nvSpPr>
        <p:spPr>
          <a:xfrm>
            <a:off x="321733" y="1044263"/>
            <a:ext cx="11226799" cy="4454453"/>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174" name="Google Shape;174;p42"/>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175" name="Google Shape;175;p42"/>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176" name="Google Shape;176;p42"/>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3" name="TextBox 2">
            <a:extLst>
              <a:ext uri="{FF2B5EF4-FFF2-40B4-BE49-F238E27FC236}">
                <a16:creationId xmlns:a16="http://schemas.microsoft.com/office/drawing/2014/main" id="{308869B4-49B7-557F-173F-CD1D11DE0809}"/>
              </a:ext>
            </a:extLst>
          </p:cNvPr>
          <p:cNvSpPr txBox="1"/>
          <p:nvPr/>
        </p:nvSpPr>
        <p:spPr>
          <a:xfrm>
            <a:off x="440267" y="939801"/>
            <a:ext cx="11430000" cy="5693866"/>
          </a:xfrm>
          <a:prstGeom prst="rect">
            <a:avLst/>
          </a:prstGeom>
          <a:noFill/>
        </p:spPr>
        <p:txBody>
          <a:bodyPr wrap="square">
            <a:spAutoFit/>
          </a:bodyPr>
          <a:lstStyle/>
          <a:p>
            <a:r>
              <a:rPr lang="en-IN" b="1" dirty="0"/>
              <a:t>1. More Demographic Features </a:t>
            </a:r>
            <a:r>
              <a:rPr lang="en-IN" dirty="0"/>
              <a:t>– SC/ST participation, gender ratio, digital literacy, income data, additional Census indicators</a:t>
            </a:r>
          </a:p>
          <a:p>
            <a:endParaRPr lang="en-IN" b="1" dirty="0"/>
          </a:p>
          <a:p>
            <a:r>
              <a:rPr lang="en-IN" b="1" dirty="0"/>
              <a:t>2. Real-Time Monitoring &amp; Alerts </a:t>
            </a:r>
            <a:r>
              <a:rPr lang="en-IN" dirty="0"/>
              <a:t>– Continuous monitoring, automated alerts for declining districts, email/SMS notifications, time-series forecasting</a:t>
            </a:r>
          </a:p>
          <a:p>
            <a:endParaRPr lang="en-IN" dirty="0"/>
          </a:p>
          <a:p>
            <a:r>
              <a:rPr lang="en-IN" b="1" dirty="0"/>
              <a:t>3. Enhanced Natural Language Processing </a:t>
            </a:r>
            <a:r>
              <a:rPr lang="en-IN" dirty="0"/>
              <a:t>– Conversational AI, voice-based interaction, multi-language support (Hindi, Tamil, Telugu, Bengali), sentiment analysis</a:t>
            </a:r>
          </a:p>
          <a:p>
            <a:endParaRPr lang="en-IN" dirty="0"/>
          </a:p>
          <a:p>
            <a:r>
              <a:rPr lang="en-IN" b="1" dirty="0"/>
              <a:t>4. Mobile Application </a:t>
            </a:r>
            <a:r>
              <a:rPr lang="en-IN" dirty="0"/>
              <a:t>– Field officer access, offline capability, camera-based data collection, GPS-based district location detection</a:t>
            </a:r>
          </a:p>
          <a:p>
            <a:endParaRPr lang="en-IN" dirty="0"/>
          </a:p>
          <a:p>
            <a:r>
              <a:rPr lang="en-IN" b="1" dirty="0"/>
              <a:t>5. Integration with Government Portals </a:t>
            </a:r>
            <a:r>
              <a:rPr lang="en-IN" dirty="0"/>
              <a:t>– Tele-Law portal integration, API for government systems, NALSA integration, single sign-on (SSO) with government authentication</a:t>
            </a:r>
          </a:p>
          <a:p>
            <a:endParaRPr lang="en-IN" dirty="0"/>
          </a:p>
          <a:p>
            <a:r>
              <a:rPr lang="en-IN" b="1" dirty="0"/>
              <a:t>6. Predictive Analytics &amp; Scenario Planning </a:t>
            </a:r>
            <a:r>
              <a:rPr lang="en-IN" dirty="0"/>
              <a:t>– Future trend forecasting, policy intervention simulation, resource allocation optimization, cost-benefit analysis</a:t>
            </a:r>
          </a:p>
          <a:p>
            <a:endParaRPr lang="en-IN" dirty="0"/>
          </a:p>
          <a:p>
            <a:r>
              <a:rPr lang="en-IN" b="1" dirty="0"/>
              <a:t>7. Advanced Visualizations </a:t>
            </a:r>
            <a:r>
              <a:rPr lang="en-IN" dirty="0"/>
              <a:t>– District-level choropleth maps, time-series animations, interactive dashboards with drill-down, custom report builders</a:t>
            </a:r>
          </a:p>
          <a:p>
            <a:endParaRPr lang="en-IN" dirty="0"/>
          </a:p>
          <a:p>
            <a:r>
              <a:rPr lang="en-IN" b="1" dirty="0"/>
              <a:t>8. User Authentication &amp; Role Management </a:t>
            </a:r>
            <a:r>
              <a:rPr lang="en-IN" dirty="0"/>
              <a:t>– Role-based access (policymaker, analyst, admin), secure login, audit trails, data privacy and compliance</a:t>
            </a:r>
          </a:p>
          <a:p>
            <a:endParaRPr lang="en-IN" dirty="0"/>
          </a:p>
          <a:p>
            <a:r>
              <a:rPr lang="en-IN" b="1" dirty="0"/>
              <a:t>9. Expanded AI Capabilities </a:t>
            </a:r>
            <a:r>
              <a:rPr lang="en-IN" dirty="0"/>
              <a:t>– Advanced LLM integration, multi-modal inputs (voice, documents), automated PDF/Word/PowerPoint report generation, email distribution</a:t>
            </a:r>
          </a:p>
          <a:p>
            <a:endParaRPr lang="en-IN" b="1" dirty="0"/>
          </a:p>
          <a:p>
            <a:r>
              <a:rPr lang="en-IN" b="1" dirty="0"/>
              <a:t>10. Deployment Scaling </a:t>
            </a:r>
            <a:r>
              <a:rPr lang="en-IN" dirty="0"/>
              <a:t>– Kubernetes for high availability, auto-scaling, multi-region disaster recovery, edge deployment for remote areas</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80"/>
        <p:cNvGrpSpPr/>
        <p:nvPr/>
      </p:nvGrpSpPr>
      <p:grpSpPr>
        <a:xfrm>
          <a:off x="0" y="0"/>
          <a:ext cx="0" cy="0"/>
          <a:chOff x="0" y="0"/>
          <a:chExt cx="0" cy="0"/>
        </a:xfrm>
      </p:grpSpPr>
      <p:sp>
        <p:nvSpPr>
          <p:cNvPr id="182" name="Google Shape;182;p43"/>
          <p:cNvSpPr txBox="1"/>
          <p:nvPr/>
        </p:nvSpPr>
        <p:spPr>
          <a:xfrm>
            <a:off x="327949" y="207380"/>
            <a:ext cx="6096000" cy="677108"/>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400" b="1" i="0" u="none" strike="noStrike" cap="none">
                <a:solidFill>
                  <a:srgbClr val="000000"/>
                </a:solidFill>
                <a:latin typeface="Arial"/>
                <a:ea typeface="Arial"/>
                <a:cs typeface="Arial"/>
                <a:sym typeface="Arial"/>
              </a:rPr>
              <a:t>Certificates Earned:</a:t>
            </a:r>
            <a:endParaRPr/>
          </a:p>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pic>
        <p:nvPicPr>
          <p:cNvPr id="3" name="Picture 2">
            <a:extLst>
              <a:ext uri="{FF2B5EF4-FFF2-40B4-BE49-F238E27FC236}">
                <a16:creationId xmlns:a16="http://schemas.microsoft.com/office/drawing/2014/main" id="{A08286E0-0316-3D71-73F0-362CFFC1A145}"/>
              </a:ext>
            </a:extLst>
          </p:cNvPr>
          <p:cNvPicPr>
            <a:picLocks noChangeAspect="1"/>
          </p:cNvPicPr>
          <p:nvPr/>
        </p:nvPicPr>
        <p:blipFill>
          <a:blip r:embed="rId3"/>
          <a:stretch>
            <a:fillRect/>
          </a:stretch>
        </p:blipFill>
        <p:spPr>
          <a:xfrm>
            <a:off x="1888066" y="588890"/>
            <a:ext cx="9119613" cy="6192909"/>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87"/>
        <p:cNvGrpSpPr/>
        <p:nvPr/>
      </p:nvGrpSpPr>
      <p:grpSpPr>
        <a:xfrm>
          <a:off x="0" y="0"/>
          <a:ext cx="0" cy="0"/>
          <a:chOff x="0" y="0"/>
          <a:chExt cx="0" cy="0"/>
        </a:xfrm>
      </p:grpSpPr>
      <p:sp>
        <p:nvSpPr>
          <p:cNvPr id="189" name="Google Shape;189;p44"/>
          <p:cNvSpPr txBox="1"/>
          <p:nvPr/>
        </p:nvSpPr>
        <p:spPr>
          <a:xfrm>
            <a:off x="176696" y="226391"/>
            <a:ext cx="6096000" cy="677108"/>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400" b="1" i="0" u="none" strike="noStrike" cap="none">
                <a:solidFill>
                  <a:srgbClr val="000000"/>
                </a:solidFill>
                <a:latin typeface="Arial"/>
                <a:ea typeface="Arial"/>
                <a:cs typeface="Arial"/>
                <a:sym typeface="Arial"/>
              </a:rPr>
              <a:t>Certificates Earned:</a:t>
            </a:r>
            <a:r>
              <a:rPr lang="en-US" sz="2400" b="0" i="0" u="none" strike="noStrike" cap="none">
                <a:solidFill>
                  <a:srgbClr val="000000"/>
                </a:solidFill>
                <a:latin typeface="Arial"/>
                <a:ea typeface="Arial"/>
                <a:cs typeface="Arial"/>
                <a:sym typeface="Arial"/>
              </a:rPr>
              <a:t>​</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pic>
        <p:nvPicPr>
          <p:cNvPr id="3" name="Picture 2">
            <a:extLst>
              <a:ext uri="{FF2B5EF4-FFF2-40B4-BE49-F238E27FC236}">
                <a16:creationId xmlns:a16="http://schemas.microsoft.com/office/drawing/2014/main" id="{350ACEF2-4463-3F1B-FD64-EE4A1697100D}"/>
              </a:ext>
            </a:extLst>
          </p:cNvPr>
          <p:cNvPicPr>
            <a:picLocks noChangeAspect="1"/>
          </p:cNvPicPr>
          <p:nvPr/>
        </p:nvPicPr>
        <p:blipFill>
          <a:blip r:embed="rId3"/>
          <a:stretch>
            <a:fillRect/>
          </a:stretch>
        </p:blipFill>
        <p:spPr>
          <a:xfrm>
            <a:off x="1320800" y="667331"/>
            <a:ext cx="9983921" cy="5943294"/>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1FAFD0-B15A-40B8-4B1F-A18E0005EC3B}"/>
              </a:ext>
            </a:extLst>
          </p:cNvPr>
          <p:cNvSpPr>
            <a:spLocks noGrp="1"/>
          </p:cNvSpPr>
          <p:nvPr>
            <p:ph type="title"/>
          </p:nvPr>
        </p:nvSpPr>
        <p:spPr/>
        <p:txBody>
          <a:bodyPr>
            <a:normAutofit/>
          </a:bodyPr>
          <a:lstStyle/>
          <a:p>
            <a:r>
              <a:rPr lang="en-US" sz="2400" b="1" dirty="0"/>
              <a:t>Certificates Earned</a:t>
            </a:r>
            <a:endParaRPr lang="en-IN" sz="2400" b="1" dirty="0"/>
          </a:p>
        </p:txBody>
      </p:sp>
      <p:pic>
        <p:nvPicPr>
          <p:cNvPr id="4" name="Picture 3">
            <a:extLst>
              <a:ext uri="{FF2B5EF4-FFF2-40B4-BE49-F238E27FC236}">
                <a16:creationId xmlns:a16="http://schemas.microsoft.com/office/drawing/2014/main" id="{EC7428BE-A669-5127-D266-847B02029A9F}"/>
              </a:ext>
            </a:extLst>
          </p:cNvPr>
          <p:cNvPicPr>
            <a:picLocks noChangeAspect="1"/>
          </p:cNvPicPr>
          <p:nvPr/>
        </p:nvPicPr>
        <p:blipFill>
          <a:blip r:embed="rId2"/>
          <a:stretch>
            <a:fillRect/>
          </a:stretch>
        </p:blipFill>
        <p:spPr>
          <a:xfrm>
            <a:off x="1667933" y="1219754"/>
            <a:ext cx="7577667" cy="5197979"/>
          </a:xfrm>
          <a:prstGeom prst="rect">
            <a:avLst/>
          </a:prstGeom>
        </p:spPr>
      </p:pic>
    </p:spTree>
    <p:extLst>
      <p:ext uri="{BB962C8B-B14F-4D97-AF65-F5344CB8AC3E}">
        <p14:creationId xmlns:p14="http://schemas.microsoft.com/office/powerpoint/2010/main" val="380949756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94"/>
        <p:cNvGrpSpPr/>
        <p:nvPr/>
      </p:nvGrpSpPr>
      <p:grpSpPr>
        <a:xfrm>
          <a:off x="0" y="0"/>
          <a:ext cx="0" cy="0"/>
          <a:chOff x="0" y="0"/>
          <a:chExt cx="0" cy="0"/>
        </a:xfrm>
      </p:grpSpPr>
      <p:pic>
        <p:nvPicPr>
          <p:cNvPr id="195" name="Google Shape;195;p20"/>
          <p:cNvPicPr preferRelativeResize="0"/>
          <p:nvPr/>
        </p:nvPicPr>
        <p:blipFill rotWithShape="1">
          <a:blip r:embed="rId3">
            <a:alphaModFix/>
          </a:blip>
          <a:srcRect/>
          <a:stretch/>
        </p:blipFill>
        <p:spPr>
          <a:xfrm>
            <a:off x="0" y="2190302"/>
            <a:ext cx="12192000" cy="2477396"/>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85</TotalTime>
  <Words>2618</Words>
  <Application>Microsoft Office PowerPoint</Application>
  <PresentationFormat>Widescreen</PresentationFormat>
  <Paragraphs>161</Paragraphs>
  <Slides>18</Slides>
  <Notes>16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18</vt:i4>
      </vt:variant>
    </vt:vector>
  </HeadingPairs>
  <TitlesOfParts>
    <vt:vector size="22" baseType="lpstr">
      <vt:lpstr>Arial</vt:lpstr>
      <vt:lpstr>Calibri</vt:lpstr>
      <vt:lpstr>Times New Roman</vt:lpstr>
      <vt:lpstr>Office Theme</vt:lpstr>
      <vt:lpstr>IBM University Engagement Project Submission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Token Usage</vt:lpstr>
      <vt:lpstr>PowerPoint Presentation</vt:lpstr>
      <vt:lpstr>PowerPoint Presentation</vt:lpstr>
      <vt:lpstr>PowerPoint Presentation</vt:lpstr>
      <vt:lpstr>PowerPoint Presentation</vt:lpstr>
      <vt:lpstr>PowerPoint Presentation</vt:lpstr>
      <vt:lpstr>PowerPoint Presentation</vt:lpstr>
      <vt:lpstr>Certificates Earned</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Manda Anirudh</dc:creator>
  <cp:lastModifiedBy>Soumya D</cp:lastModifiedBy>
  <cp:revision>2</cp:revision>
  <dcterms:created xsi:type="dcterms:W3CDTF">2025-07-08T05:06:56Z</dcterms:created>
  <dcterms:modified xsi:type="dcterms:W3CDTF">2026-07-09T16:18:11Z</dcterms:modified>
</cp:coreProperties>
</file>